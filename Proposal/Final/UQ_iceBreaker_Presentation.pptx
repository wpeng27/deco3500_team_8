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7" r:id="rId3"/>
    <p:sldId id="270" r:id="rId4"/>
    <p:sldId id="257" r:id="rId5"/>
    <p:sldId id="268" r:id="rId6"/>
    <p:sldId id="264"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ABEC"/>
    <a:srgbClr val="F3C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3B7E5F-5D99-96CA-5B43-AB9233E51472}" v="55" dt="2026-08-23T06:23:28.483"/>
    <p1510:client id="{1C8A10E2-9D49-722C-AEB7-B05565626D8F}" v="1" dt="2026-08-24T10:29:26.508"/>
    <p1510:client id="{2323E3DB-B0FB-71AA-864C-E36B370DC9BD}" v="59" dt="2026-08-23T02:47:55.552"/>
    <p1510:client id="{24B208C7-1922-34D3-87C3-1C541365EBB1}" v="14" dt="2026-08-23T07:27:55.409"/>
    <p1510:client id="{2CE7886C-7D71-9D3B-BD1C-BCD5DE466EAC}" v="912" dt="2026-08-23T07:22:40.010"/>
    <p1510:client id="{3AF64600-ED10-0BF3-412F-C2A0188ADED3}" v="106" dt="2026-08-23T07:42:36.170"/>
    <p1510:client id="{49B09B10-12DF-6CB7-F646-E5F7C9A17357}" v="34" dt="2026-08-23T07:39:59.208"/>
    <p1510:client id="{65C02A74-C714-84E2-3FA5-C89761BAABDC}" v="114" dt="2026-08-23T02:29:53.845"/>
    <p1510:client id="{710845FF-4117-EE47-31D1-4ECB3DDAB793}" v="2" dt="2026-08-23T07:46:04.822"/>
    <p1510:client id="{8CF01059-BB3D-5DC0-D51E-6632C72F715B}" v="17" dt="2026-08-22T23:40:26.283"/>
    <p1510:client id="{D5B6E3A0-414A-F1CF-F4E7-4293B7FF3F14}" v="31" dt="2026-08-24T10:19:01.984"/>
    <p1510:client id="{DBB2D7BA-2017-FFCA-5DEE-8388100209D6}" v="89" dt="2026-08-23T05:16:30.648"/>
    <p1510:client id="{EDCB20D0-4398-1A1D-0D48-3A89964EAD00}" v="30" dt="2026-08-24T04:37:29.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BB6E6AD-2A63-41CB-AD6C-E94B5421F624}" type="datetimeFigureOut">
              <a:t>8/26/2026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BDBF193-5975-4730-8AC8-F37EADCD8ADA}" type="slidenum">
              <a:t>‹#›</a:t>
            </a:fld>
            <a:endParaRPr lang="en-GB"/>
          </a:p>
        </p:txBody>
      </p:sp>
    </p:spTree>
    <p:extLst>
      <p:ext uri="{BB962C8B-B14F-4D97-AF65-F5344CB8AC3E}">
        <p14:creationId xmlns:p14="http://schemas.microsoft.com/office/powerpoint/2010/main" val="227796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highlight>
                  <a:srgbClr val="FFFFFF"/>
                </a:highlight>
                <a:ea typeface="游ゴシック"/>
              </a:rPr>
              <a:t>Good morning. We’re Team 8, and our team is called Ice Breaker.</a:t>
            </a:r>
            <a:endParaRPr lang="en-US" altLang="ja-JP">
              <a:ea typeface="游ゴシック"/>
            </a:endParaRPr>
          </a:p>
          <a:p>
            <a:r>
              <a:rPr lang="ja-JP">
                <a:highlight>
                  <a:srgbClr val="FFFFFF"/>
                </a:highlight>
              </a:rPr>
              <a:t> </a:t>
            </a:r>
            <a:endParaRPr lang="ja-JP"/>
          </a:p>
          <a:p>
            <a:r>
              <a:rPr lang="ja-JP">
                <a:highlight>
                  <a:srgbClr val="FFFFFF"/>
                </a:highlight>
              </a:rPr>
              <a:t>Our project looks at how students choose groups when they don’t know each other very well.</a:t>
            </a:r>
            <a:endParaRPr lang="ja-JP"/>
          </a:p>
          <a:p>
            <a:r>
              <a:rPr lang="ja-JP">
                <a:highlight>
                  <a:srgbClr val="FFFFFF"/>
                </a:highlight>
              </a:rPr>
              <a:t> </a:t>
            </a:r>
            <a:endParaRPr lang="ja-JP"/>
          </a:p>
          <a:p>
            <a:r>
              <a:rPr lang="ja-JP">
                <a:highlight>
                  <a:srgbClr val="FFFFFF"/>
                </a:highlight>
              </a:rPr>
              <a:t>Our team has four main strengths.</a:t>
            </a:r>
            <a:endParaRPr lang="ja-JP"/>
          </a:p>
          <a:p>
            <a:r>
              <a:rPr lang="ja-JP">
                <a:highlight>
                  <a:srgbClr val="FFFFFF"/>
                </a:highlight>
              </a:rPr>
              <a:t> </a:t>
            </a:r>
            <a:endParaRPr lang="ja-JP"/>
          </a:p>
          <a:p>
            <a:r>
              <a:rPr lang="ja-JP">
                <a:highlight>
                  <a:srgbClr val="FFFFFF"/>
                </a:highlight>
                <a:ea typeface="游ゴシック"/>
              </a:rPr>
              <a:t>First, research and validation help us understand students’ real experiences. We can find out what problems they face and check whether our ideas meet their needs.</a:t>
            </a:r>
            <a:endParaRPr lang="ja-JP">
              <a:ea typeface="游ゴシック"/>
            </a:endParaRPr>
          </a:p>
          <a:p>
            <a:r>
              <a:rPr lang="ja-JP">
                <a:highlight>
                  <a:srgbClr val="FFFFFF"/>
                </a:highlight>
              </a:rPr>
              <a:t> </a:t>
            </a:r>
            <a:endParaRPr lang="ja-JP"/>
          </a:p>
          <a:p>
            <a:r>
              <a:rPr lang="ja-JP">
                <a:highlight>
                  <a:srgbClr val="FFFFFF"/>
                </a:highlight>
                <a:ea typeface="游ゴシック"/>
              </a:rPr>
              <a:t>Second, interaction design helps us create a simple process for students to get to know each other before choosing a group.</a:t>
            </a:r>
            <a:endParaRPr lang="ja-JP">
              <a:ea typeface="游ゴシック"/>
            </a:endParaRPr>
          </a:p>
          <a:p>
            <a:r>
              <a:rPr lang="ja-JP">
                <a:highlight>
                  <a:srgbClr val="FFFFFF"/>
                </a:highlight>
              </a:rPr>
              <a:t> </a:t>
            </a:r>
            <a:endParaRPr lang="ja-JP"/>
          </a:p>
          <a:p>
            <a:r>
              <a:rPr lang="ja-JP">
                <a:highlight>
                  <a:srgbClr val="FFFFFF"/>
                </a:highlight>
                <a:ea typeface="游ゴシック"/>
              </a:rPr>
              <a:t>Third, prototyping and development help us build our ideas and test whether the main features work.</a:t>
            </a:r>
            <a:endParaRPr lang="ja-JP">
              <a:ea typeface="游ゴシック"/>
            </a:endParaRPr>
          </a:p>
          <a:p>
            <a:r>
              <a:rPr lang="ja-JP">
                <a:highlight>
                  <a:srgbClr val="FFFFFF"/>
                </a:highlight>
              </a:rPr>
              <a:t> </a:t>
            </a:r>
            <a:endParaRPr lang="ja-JP"/>
          </a:p>
          <a:p>
            <a:r>
              <a:rPr lang="ja-JP">
                <a:highlight>
                  <a:srgbClr val="FFFFFF"/>
                </a:highlight>
                <a:ea typeface="游ゴシック"/>
              </a:rPr>
              <a:t>Finally, coordination helps us keep the research, design, development, and documentation organised and connected.</a:t>
            </a:r>
            <a:endParaRPr lang="ja-JP">
              <a:ea typeface="游ゴシック"/>
            </a:endParaRPr>
          </a:p>
          <a:p>
            <a:r>
              <a:rPr lang="ja-JP">
                <a:highlight>
                  <a:srgbClr val="FFFFFF"/>
                </a:highlight>
              </a:rPr>
              <a:t> </a:t>
            </a:r>
            <a:endParaRPr lang="ja-JP"/>
          </a:p>
          <a:p>
            <a:r>
              <a:rPr lang="ja-JP">
                <a:highlight>
                  <a:srgbClr val="FFFFFF"/>
                </a:highlight>
              </a:rPr>
              <a:t>Together, these strengths help us move from understanding the problem, to designing and building a solution, and finally testing whether it can make group formation easier for students.</a:t>
            </a:r>
            <a:endParaRPr lang="ja-JP"/>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BDBF193-5975-4730-8AC8-F37EADCD8ADA}" type="slidenum">
              <a:rPr lang="en-US"/>
              <a:t>2</a:t>
            </a:fld>
            <a:endParaRPr lang="en-US"/>
          </a:p>
        </p:txBody>
      </p:sp>
    </p:spTree>
    <p:extLst>
      <p:ext uri="{BB962C8B-B14F-4D97-AF65-F5344CB8AC3E}">
        <p14:creationId xmlns:p14="http://schemas.microsoft.com/office/powerpoint/2010/main" val="191306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domain is starting new courses with unfamiliar group members.</a:t>
            </a:r>
          </a:p>
          <a:p>
            <a:r>
              <a:rPr lang="en-US" dirty="0"/>
              <a:t> </a:t>
            </a:r>
            <a:endParaRPr lang="en-US" dirty="0">
              <a:ea typeface="Calibri"/>
              <a:cs typeface="Calibri"/>
            </a:endParaRPr>
          </a:p>
          <a:p>
            <a:r>
              <a:rPr lang="en-US"/>
              <a:t>We're enhancing UQ students' transition into group-based coursework with unfamiliar peers — taking place in tutorial rooms and course spaces at the start of semester — with the possibilities of social and contextual computing.</a:t>
            </a:r>
          </a:p>
          <a:p>
            <a:r>
              <a:rPr lang="en-US" dirty="0"/>
              <a:t> </a:t>
            </a:r>
            <a:endParaRPr lang="en-US" dirty="0">
              <a:ea typeface="Calibri"/>
              <a:cs typeface="Calibri"/>
            </a:endParaRPr>
          </a:p>
          <a:p>
            <a:r>
              <a:rPr lang="en-US"/>
              <a:t>This matters because in a study of over 1,300 university learners, 34 percent reported considerable unease in small-group interaction — with unfamiliar peers, expressing opinions, and uncomfortable silence being the leading triggers. And more broadly, nearly one in three university students report anxiety symptoms that affect their academic performance.</a:t>
            </a:r>
          </a:p>
          <a:p>
            <a:r>
              <a:rPr lang="en-US"/>
              <a:t> (pause)</a:t>
            </a:r>
          </a:p>
          <a:p>
            <a:r>
              <a:rPr lang="en-US" dirty="0"/>
              <a:t>Let me make this concrete. Meet Wei, an international student in his first semester. He walks into his first tutorial not knowing a single classmate. When the tutor says "form your own groups," everyone around him already seems to know someone. He ends up in a group by default, and spends the semester unsure if his groupmates will really respond when he reaches out.</a:t>
            </a:r>
            <a:endParaRPr lang="en-US" dirty="0">
              <a:ea typeface="Calibri"/>
              <a:cs typeface="Calibri"/>
            </a:endParaRPr>
          </a:p>
          <a:p>
            <a:r>
              <a:rPr lang="en-US"/>
              <a:t> (pause)</a:t>
            </a:r>
          </a:p>
          <a:p>
            <a:r>
              <a:rPr lang="en-US"/>
              <a:t>This is exactly where social and mobile computing can help. Socially, we're talking about asynchronous, low-pressure introductions, progressive disclosure, and shared awareness that others are in the same position. Contextually, it means matching students to their exact course and tutorial slot, within a time-bound window, and bridging that online match to their real first meeting in person.</a:t>
            </a:r>
          </a:p>
          <a:p>
            <a:r>
              <a:rPr lang="en-US" dirty="0"/>
              <a:t> </a:t>
            </a:r>
            <a:endParaRPr lang="en-US" dirty="0">
              <a:ea typeface="Calibri"/>
              <a:cs typeface="Calibri"/>
            </a:endParaRPr>
          </a:p>
          <a:p>
            <a:r>
              <a:rPr lang="en-US" dirty="0"/>
              <a:t>So this domain gives us a clear, recurring, and specific moment to design for.</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BDBF193-5975-4730-8AC8-F37EADCD8ADA}" type="slidenum">
              <a:rPr lang="en-US"/>
              <a:t>3</a:t>
            </a:fld>
            <a:endParaRPr lang="en-US"/>
          </a:p>
        </p:txBody>
      </p:sp>
    </p:spTree>
    <p:extLst>
      <p:ext uri="{BB962C8B-B14F-4D97-AF65-F5344CB8AC3E}">
        <p14:creationId xmlns:p14="http://schemas.microsoft.com/office/powerpoint/2010/main" val="43663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 problem space, we identified three values that are important to our design direction: predictability, autonomy, and gradual self-disclosure. </a:t>
            </a:r>
            <a:endParaRPr lang="en-US" dirty="0"/>
          </a:p>
          <a:p>
            <a:r>
              <a:rPr lang="en-US" dirty="0"/>
              <a:t> </a:t>
            </a:r>
          </a:p>
          <a:p>
            <a:r>
              <a:rPr lang="en-US"/>
              <a:t>First, predictability. Students want to reduce the uncertainty of walking into a tutorial without knowing who they’ll be working with. Second, autonomy. They want some influence over group formation instead of feeling that the only option is to accept whoever happens to be nearby. Third, gradual self-disclosure. We don’t want to assume that every student is comfortable immediately posting their name, photo and personal information to strangers. </a:t>
            </a:r>
            <a:endParaRPr lang="en-US" dirty="0"/>
          </a:p>
          <a:p>
            <a:r>
              <a:rPr lang="en-US" dirty="0"/>
              <a:t> </a:t>
            </a:r>
          </a:p>
          <a:p>
            <a:r>
              <a:rPr lang="en-US"/>
              <a:t>These values lead to our design opportunity: How can we make the early team formation more social through asynchronous and low-pressure self-introductions?</a:t>
            </a:r>
            <a:endParaRPr lang="en-US" dirty="0"/>
          </a:p>
          <a:p>
            <a:r>
              <a:rPr lang="en-US" dirty="0"/>
              <a:t> </a:t>
            </a:r>
          </a:p>
          <a:p>
            <a:r>
              <a:rPr lang="en-US"/>
              <a:t>Our target audience is students enrolled in courses with group assessment, particularly around the start of semester. These students may already be comfortable using platforms such as Ed Discussion or course Facebook groups for practical information. But being visible as someone who is ‘studying’ is different from being visible as someone actively seeking social contact. So, the opportunity isn’t simply to create another place for students to talk. It is to reduce the social cost of taking the first step, while still helping students form useful assessment groups.</a:t>
            </a:r>
            <a:endParaRPr lang="en-US" dirty="0"/>
          </a:p>
          <a:p>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BDBF193-5975-4730-8AC8-F37EADCD8ADA}" type="slidenum">
              <a:rPr lang="en-US"/>
              <a:t>4</a:t>
            </a:fld>
            <a:endParaRPr lang="en-US"/>
          </a:p>
        </p:txBody>
      </p:sp>
    </p:spTree>
    <p:extLst>
      <p:ext uri="{BB962C8B-B14F-4D97-AF65-F5344CB8AC3E}">
        <p14:creationId xmlns:p14="http://schemas.microsoft.com/office/powerpoint/2010/main" val="9274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now look at how students currently solve this problem. The most common approach found in our interview was face-to-face. The participant recognised someone from a previous course and asked to join their group. However, this relies heavily on pre existing relationships. They described their decision-making as largely based on simply recognising someone and seeing whether they appeared engaged in tutorials.</a:t>
            </a:r>
            <a:endParaRPr lang="en-US" dirty="0"/>
          </a:p>
          <a:p>
            <a:r>
              <a:rPr lang="en-US"/>
              <a:t> There was also online thread, like Ed Discussion posts designed to help students find groups, but the students said “barely anyone used it though.” (Interview 3, 2026) So simply creating another communication channel may not be enough.</a:t>
            </a:r>
            <a:endParaRPr lang="en-US" dirty="0"/>
          </a:p>
          <a:p>
            <a:r>
              <a:rPr lang="en-US"/>
              <a:t> Some students also turn to general-purpose tools like Study Stream, a Discord-style study rooms built for co-studying rather than forming assessment groups. These platforms are open to strangers with no course affiliation, so while they're useful for staying motivated or focused during solo study sessions, they don't help students find compatible, reliable teammates for a shared assessment.</a:t>
            </a:r>
            <a:endParaRPr lang="en-US" dirty="0"/>
          </a:p>
          <a:p>
            <a:r>
              <a:rPr lang="en-US"/>
              <a:t> So the tools that exist either aren't built for matching, or aren't built for coursework at all.</a:t>
            </a:r>
            <a:endParaRPr lang="en-US" dirty="0"/>
          </a:p>
          <a:p>
            <a:r>
              <a:rPr lang="en-US"/>
              <a:t>For our project, we're addressing this gap with three core concepts. First, Student Profiles. Giving students visibility into each other's skills, working preferences, previous group experience, and reliability indicators. Second, Low-Pressure Matching. Instead of having to directly ask "can I join your group?", students can indicate interest first, before any direct approach is needed. And third, a Group Finder. Showing who's still looking for a group, which groups still have space, and where there's potential compatibility.</a:t>
            </a:r>
            <a:endParaRPr lang="en-US" dirty="0"/>
          </a:p>
          <a:p>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BDBF193-5975-4730-8AC8-F37EADCD8ADA}" type="slidenum">
              <a:rPr lang="en-US"/>
              <a:t>5</a:t>
            </a:fld>
            <a:endParaRPr lang="en-US"/>
          </a:p>
        </p:txBody>
      </p:sp>
    </p:spTree>
    <p:extLst>
      <p:ext uri="{BB962C8B-B14F-4D97-AF65-F5344CB8AC3E}">
        <p14:creationId xmlns:p14="http://schemas.microsoft.com/office/powerpoint/2010/main" val="332066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this slide, I will explain how we move from research towards a refined, multi-user proof of concept. </a:t>
            </a:r>
          </a:p>
          <a:p>
            <a:r>
              <a:rPr lang="en-US"/>
              <a:t>During Weeks 4 and 5, we will focus on research and validation. Through semi-structured interviews and literature review, we aim to understand what students actually need when forming groups with unfamiliar peers. We will synthesise the findings into initial user needs. </a:t>
            </a:r>
          </a:p>
          <a:p>
            <a:r>
              <a:rPr lang="en-US"/>
              <a:t>  </a:t>
            </a:r>
          </a:p>
          <a:p>
            <a:r>
              <a:rPr lang="en-US"/>
              <a:t>During Weeks 6 and 7, we will translate these needs into experience requirements and possible design directions. We will explore concepts through scenarios, workflows and early interactive prototypes. To narrow our options, we will compare alternative concept directions against user value, social and contextual fit, and technical feasibility. </a:t>
            </a:r>
          </a:p>
          <a:p>
            <a:r>
              <a:rPr lang="en-US"/>
              <a:t>  </a:t>
            </a:r>
          </a:p>
          <a:p>
            <a:r>
              <a:rPr lang="en-US"/>
              <a:t>In Week 8, we will evaluate the early prototype through task-based think-aloud testing and feedback analysis. We will also decide which core multi-user interactions require real functionality and which supporting processes can be simulated. </a:t>
            </a:r>
          </a:p>
          <a:p>
            <a:r>
              <a:rPr lang="en-US"/>
              <a:t>  </a:t>
            </a:r>
          </a:p>
          <a:p>
            <a:r>
              <a:rPr lang="en-US"/>
              <a:t>During Weeks 9 to 11, we will conduct further user testing and end-to-end multi-user testing, using the findings to iteratively refine the experience. </a:t>
            </a:r>
          </a:p>
          <a:p>
            <a:r>
              <a:rPr lang="en-US"/>
              <a:t>By Week 12, we aim to have a multi-user proof of concept ready for the exhibition, poster and pitch, followed by final documentation and the public GitHub repository in Week 13. </a:t>
            </a:r>
          </a:p>
        </p:txBody>
      </p:sp>
      <p:sp>
        <p:nvSpPr>
          <p:cNvPr id="4" name="Slide Number Placeholder 3"/>
          <p:cNvSpPr>
            <a:spLocks noGrp="1"/>
          </p:cNvSpPr>
          <p:nvPr>
            <p:ph type="sldNum" sz="quarter" idx="5"/>
          </p:nvPr>
        </p:nvSpPr>
        <p:spPr/>
        <p:txBody>
          <a:bodyPr/>
          <a:lstStyle/>
          <a:p>
            <a:fld id="{1BDBF193-5975-4730-8AC8-F37EADCD8ADA}" type="slidenum">
              <a:rPr lang="en-US"/>
              <a:t>6</a:t>
            </a:fld>
            <a:endParaRPr lang="en-US"/>
          </a:p>
        </p:txBody>
      </p:sp>
    </p:spTree>
    <p:extLst>
      <p:ext uri="{BB962C8B-B14F-4D97-AF65-F5344CB8AC3E}">
        <p14:creationId xmlns:p14="http://schemas.microsoft.com/office/powerpoint/2010/main" val="1865099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10144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1247A"/>
        </a:solidFill>
        <a:effectLst/>
      </p:bgPr>
    </p:bg>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7B499DD7-6EAB-8451-D588-302EAF3E81A3}"/>
              </a:ext>
            </a:extLst>
          </p:cNvPr>
          <p:cNvSpPr/>
          <p:nvPr/>
        </p:nvSpPr>
        <p:spPr>
          <a:xfrm rot="13244800">
            <a:off x="8764321" y="862946"/>
            <a:ext cx="619775" cy="349398"/>
          </a:xfrm>
          <a:custGeom>
            <a:avLst/>
            <a:gdLst/>
            <a:ahLst/>
            <a:cxnLst/>
            <a:rect l="l" t="t" r="r" b="b"/>
            <a:pathLst>
              <a:path w="929662" h="524097">
                <a:moveTo>
                  <a:pt x="0" y="0"/>
                </a:moveTo>
                <a:lnTo>
                  <a:pt x="929662" y="0"/>
                </a:lnTo>
                <a:lnTo>
                  <a:pt x="929662" y="524097"/>
                </a:lnTo>
                <a:lnTo>
                  <a:pt x="0" y="5240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5">
            <a:extLst>
              <a:ext uri="{FF2B5EF4-FFF2-40B4-BE49-F238E27FC236}">
                <a16:creationId xmlns:a16="http://schemas.microsoft.com/office/drawing/2014/main" id="{62C94961-B414-36EA-04D0-101B50B2B2BE}"/>
              </a:ext>
            </a:extLst>
          </p:cNvPr>
          <p:cNvSpPr/>
          <p:nvPr/>
        </p:nvSpPr>
        <p:spPr>
          <a:xfrm rot="13860000">
            <a:off x="8267708" y="5233964"/>
            <a:ext cx="251315" cy="510283"/>
          </a:xfrm>
          <a:custGeom>
            <a:avLst/>
            <a:gdLst/>
            <a:ahLst/>
            <a:cxnLst/>
            <a:rect l="l" t="t" r="r" b="b"/>
            <a:pathLst>
              <a:path w="376972" h="765425">
                <a:moveTo>
                  <a:pt x="0" y="0"/>
                </a:moveTo>
                <a:lnTo>
                  <a:pt x="376971" y="0"/>
                </a:lnTo>
                <a:lnTo>
                  <a:pt x="376971" y="765425"/>
                </a:lnTo>
                <a:lnTo>
                  <a:pt x="0" y="76542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6">
            <a:extLst>
              <a:ext uri="{FF2B5EF4-FFF2-40B4-BE49-F238E27FC236}">
                <a16:creationId xmlns:a16="http://schemas.microsoft.com/office/drawing/2014/main" id="{FC880392-457F-E175-C133-FC847F2AEE95}"/>
              </a:ext>
            </a:extLst>
          </p:cNvPr>
          <p:cNvSpPr txBox="1"/>
          <p:nvPr/>
        </p:nvSpPr>
        <p:spPr>
          <a:xfrm>
            <a:off x="1782430" y="2535392"/>
            <a:ext cx="7641406" cy="123508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4931"/>
              </a:lnSpc>
            </a:pPr>
            <a:r>
              <a:rPr lang="en-US" sz="4000" b="1" spc="-181">
                <a:solidFill>
                  <a:schemeClr val="bg1"/>
                </a:solidFill>
                <a:latin typeface="Calibri"/>
                <a:ea typeface="Calibri"/>
                <a:cs typeface="Calibri"/>
                <a:sym typeface="Heading Now 71-78"/>
              </a:rPr>
              <a:t>Reducing Uncertainty When Students Form Groups With Unfamiliar Peers​</a:t>
            </a:r>
            <a:endParaRPr lang="en-US" sz="4000" b="1" spc="-181">
              <a:solidFill>
                <a:schemeClr val="bg1"/>
              </a:solidFill>
              <a:latin typeface="Calibri"/>
              <a:ea typeface="Calibri"/>
              <a:cs typeface="Calibri"/>
            </a:endParaRPr>
          </a:p>
        </p:txBody>
      </p:sp>
      <p:sp>
        <p:nvSpPr>
          <p:cNvPr id="17" name="TextBox 7">
            <a:extLst>
              <a:ext uri="{FF2B5EF4-FFF2-40B4-BE49-F238E27FC236}">
                <a16:creationId xmlns:a16="http://schemas.microsoft.com/office/drawing/2014/main" id="{14CE3A2F-A5C7-2336-3AFE-BCA16EDB0896}"/>
              </a:ext>
            </a:extLst>
          </p:cNvPr>
          <p:cNvSpPr txBox="1"/>
          <p:nvPr/>
        </p:nvSpPr>
        <p:spPr>
          <a:xfrm>
            <a:off x="1782430" y="1668826"/>
            <a:ext cx="5080117" cy="6155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422"/>
              </a:lnSpc>
            </a:pPr>
            <a:r>
              <a:rPr lang="en-US" sz="2000">
                <a:solidFill>
                  <a:schemeClr val="bg1"/>
                </a:solidFill>
                <a:latin typeface="Calibri"/>
                <a:ea typeface="Calibri"/>
                <a:cs typeface="Calibri"/>
                <a:sym typeface="TT Firs Neue"/>
              </a:rPr>
              <a:t>Zhifeng Cheng · Zhaoyi Gao · Xueming Wang Weijie Peng · Lei Guo​</a:t>
            </a:r>
            <a:endParaRPr lang="en-US" sz="2000">
              <a:solidFill>
                <a:schemeClr val="bg1"/>
              </a:solidFill>
              <a:latin typeface="Calibri"/>
              <a:ea typeface="Calibri"/>
              <a:cs typeface="Calibri"/>
            </a:endParaRPr>
          </a:p>
        </p:txBody>
      </p:sp>
      <p:sp>
        <p:nvSpPr>
          <p:cNvPr id="19" name="TextBox 8">
            <a:extLst>
              <a:ext uri="{FF2B5EF4-FFF2-40B4-BE49-F238E27FC236}">
                <a16:creationId xmlns:a16="http://schemas.microsoft.com/office/drawing/2014/main" id="{37BA1645-CC37-C043-B4C9-19D8CBF01681}"/>
              </a:ext>
            </a:extLst>
          </p:cNvPr>
          <p:cNvSpPr txBox="1"/>
          <p:nvPr/>
        </p:nvSpPr>
        <p:spPr>
          <a:xfrm>
            <a:off x="1782430" y="4871861"/>
            <a:ext cx="6902873" cy="6155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422"/>
              </a:lnSpc>
            </a:pPr>
            <a:r>
              <a:rPr lang="en-US" sz="2000">
                <a:solidFill>
                  <a:schemeClr val="bg1"/>
                </a:solidFill>
                <a:latin typeface="Calibri"/>
                <a:ea typeface="Calibri"/>
                <a:cs typeface="Calibri"/>
                <a:sym typeface="TT Firs Neue"/>
              </a:rPr>
              <a:t>Helping students move from meeting unfamiliar classmates to forming groups with less social pressure</a:t>
            </a:r>
            <a:r>
              <a:rPr lang="en-US" sz="2000" b="1">
                <a:solidFill>
                  <a:schemeClr val="bg1"/>
                </a:solidFill>
                <a:latin typeface="Calibri"/>
                <a:ea typeface="Calibri"/>
                <a:cs typeface="Calibri"/>
                <a:sym typeface="TT Firs Neue Bold"/>
              </a:rPr>
              <a:t>​</a:t>
            </a:r>
            <a:endParaRPr lang="en-US" sz="2000" b="1">
              <a:solidFill>
                <a:schemeClr val="bg1"/>
              </a:solidFill>
              <a:latin typeface="Calibri"/>
              <a:ea typeface="Calibri"/>
              <a:cs typeface="Calibri"/>
            </a:endParaRPr>
          </a:p>
        </p:txBody>
      </p:sp>
      <p:sp>
        <p:nvSpPr>
          <p:cNvPr id="21" name="TextBox 9">
            <a:extLst>
              <a:ext uri="{FF2B5EF4-FFF2-40B4-BE49-F238E27FC236}">
                <a16:creationId xmlns:a16="http://schemas.microsoft.com/office/drawing/2014/main" id="{F75C6F63-5D9B-EE95-5BA2-C87479A75E32}"/>
              </a:ext>
            </a:extLst>
          </p:cNvPr>
          <p:cNvSpPr txBox="1"/>
          <p:nvPr/>
        </p:nvSpPr>
        <p:spPr>
          <a:xfrm>
            <a:off x="1782430" y="705347"/>
            <a:ext cx="3115009" cy="37369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906"/>
              </a:lnSpc>
            </a:pPr>
            <a:r>
              <a:rPr lang="en-US" sz="2400" b="1">
                <a:solidFill>
                  <a:schemeClr val="bg1"/>
                </a:solidFill>
                <a:latin typeface="Calibri"/>
                <a:ea typeface="Calibri"/>
                <a:cs typeface="Calibri"/>
                <a:sym typeface="TT Firs Neue Bold"/>
              </a:rPr>
              <a:t>DECO3500​</a:t>
            </a:r>
            <a:endParaRPr lang="en-US" sz="2400" b="1">
              <a:solidFill>
                <a:schemeClr val="bg1"/>
              </a:solidFill>
              <a:latin typeface="Calibri"/>
              <a:ea typeface="Calibri"/>
              <a:cs typeface="Calibri"/>
            </a:endParaRPr>
          </a:p>
        </p:txBody>
      </p:sp>
      <p:sp>
        <p:nvSpPr>
          <p:cNvPr id="23" name="TextBox 10">
            <a:extLst>
              <a:ext uri="{FF2B5EF4-FFF2-40B4-BE49-F238E27FC236}">
                <a16:creationId xmlns:a16="http://schemas.microsoft.com/office/drawing/2014/main" id="{B5F40612-176B-AB0B-7985-A2751F524E96}"/>
              </a:ext>
            </a:extLst>
          </p:cNvPr>
          <p:cNvSpPr txBox="1"/>
          <p:nvPr/>
        </p:nvSpPr>
        <p:spPr>
          <a:xfrm>
            <a:off x="1782430" y="1272843"/>
            <a:ext cx="2840739" cy="37369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06"/>
              </a:lnSpc>
            </a:pPr>
            <a:r>
              <a:rPr lang="en-US" sz="2400">
                <a:solidFill>
                  <a:schemeClr val="bg1"/>
                </a:solidFill>
                <a:latin typeface="Calibri"/>
                <a:ea typeface="Calibri"/>
                <a:cs typeface="Calibri"/>
                <a:sym typeface="TT Firs Neue"/>
              </a:rPr>
              <a:t>Team 8 – Ice Breaker</a:t>
            </a:r>
            <a:r>
              <a:rPr lang="en-US" sz="2800">
                <a:solidFill>
                  <a:schemeClr val="bg1"/>
                </a:solidFill>
                <a:latin typeface="Calibri"/>
                <a:ea typeface="Calibri"/>
                <a:cs typeface="Calibri"/>
                <a:sym typeface="TT Firs Neue"/>
              </a:rPr>
              <a:t> </a:t>
            </a:r>
            <a:endParaRPr lang="en-US" sz="2800">
              <a:solidFill>
                <a:schemeClr val="bg1"/>
              </a:solidFill>
              <a:latin typeface="Calibri"/>
              <a:ea typeface="Calibri"/>
              <a:cs typeface="Calibri"/>
            </a:endParaRPr>
          </a:p>
        </p:txBody>
      </p:sp>
      <p:sp>
        <p:nvSpPr>
          <p:cNvPr id="25" name="TextBox 11">
            <a:extLst>
              <a:ext uri="{FF2B5EF4-FFF2-40B4-BE49-F238E27FC236}">
                <a16:creationId xmlns:a16="http://schemas.microsoft.com/office/drawing/2014/main" id="{DAFA018B-6E80-3330-78DD-A6B5641C3AAC}"/>
              </a:ext>
            </a:extLst>
          </p:cNvPr>
          <p:cNvSpPr txBox="1"/>
          <p:nvPr/>
        </p:nvSpPr>
        <p:spPr>
          <a:xfrm>
            <a:off x="1782430" y="4528551"/>
            <a:ext cx="2378349" cy="31207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422"/>
              </a:lnSpc>
            </a:pPr>
            <a:r>
              <a:rPr lang="en-US" sz="2400" b="1">
                <a:solidFill>
                  <a:schemeClr val="bg1"/>
                </a:solidFill>
                <a:latin typeface="Calibri"/>
                <a:ea typeface="Calibri"/>
                <a:cs typeface="Calibri"/>
                <a:sym typeface="TT Firs Neue Bold"/>
              </a:rPr>
              <a:t>Our Focus​:</a:t>
            </a:r>
            <a:endParaRPr lang="en-US" sz="2400" b="1">
              <a:solidFill>
                <a:schemeClr val="bg1"/>
              </a:solidFill>
              <a:latin typeface="Calibri"/>
              <a:ea typeface="Calibri"/>
              <a:cs typeface="Calibri"/>
            </a:endParaRPr>
          </a:p>
        </p:txBody>
      </p:sp>
      <p:sp>
        <p:nvSpPr>
          <p:cNvPr id="27" name="Freeform 3">
            <a:extLst>
              <a:ext uri="{FF2B5EF4-FFF2-40B4-BE49-F238E27FC236}">
                <a16:creationId xmlns:a16="http://schemas.microsoft.com/office/drawing/2014/main" id="{429AE07E-D027-4D5B-F86E-45FCCDE62B81}"/>
              </a:ext>
            </a:extLst>
          </p:cNvPr>
          <p:cNvSpPr/>
          <p:nvPr/>
        </p:nvSpPr>
        <p:spPr>
          <a:xfrm rot="16465168">
            <a:off x="-151906" y="552882"/>
            <a:ext cx="1702148" cy="1274483"/>
          </a:xfrm>
          <a:custGeom>
            <a:avLst/>
            <a:gdLst/>
            <a:ahLst/>
            <a:cxnLst/>
            <a:rect l="l" t="t" r="r" b="b"/>
            <a:pathLst>
              <a:path w="2553222" h="1911725">
                <a:moveTo>
                  <a:pt x="0" y="0"/>
                </a:moveTo>
                <a:lnTo>
                  <a:pt x="2553222" y="0"/>
                </a:lnTo>
                <a:lnTo>
                  <a:pt x="2553222" y="1911725"/>
                </a:lnTo>
                <a:lnTo>
                  <a:pt x="0" y="1911725"/>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9" name="Freeform 2">
            <a:extLst>
              <a:ext uri="{FF2B5EF4-FFF2-40B4-BE49-F238E27FC236}">
                <a16:creationId xmlns:a16="http://schemas.microsoft.com/office/drawing/2014/main" id="{59937506-8007-2B57-1CA8-1C285F76E5BF}"/>
              </a:ext>
            </a:extLst>
          </p:cNvPr>
          <p:cNvSpPr/>
          <p:nvPr/>
        </p:nvSpPr>
        <p:spPr>
          <a:xfrm rot="1790139">
            <a:off x="9860542" y="4035446"/>
            <a:ext cx="1752955" cy="1299378"/>
          </a:xfrm>
          <a:custGeom>
            <a:avLst/>
            <a:gdLst/>
            <a:ahLst/>
            <a:cxnLst/>
            <a:rect l="l" t="t" r="r" b="b"/>
            <a:pathLst>
              <a:path w="2629433" h="1949067">
                <a:moveTo>
                  <a:pt x="0" y="0"/>
                </a:moveTo>
                <a:lnTo>
                  <a:pt x="2629433" y="0"/>
                </a:lnTo>
                <a:lnTo>
                  <a:pt x="2629433" y="1949067"/>
                </a:lnTo>
                <a:lnTo>
                  <a:pt x="0" y="1949067"/>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81557" y="1328367"/>
            <a:ext cx="522655" cy="522655"/>
          </a:xfrm>
          <a:custGeom>
            <a:avLst/>
            <a:gdLst/>
            <a:ahLst/>
            <a:cxnLst/>
            <a:rect l="l" t="t" r="r" b="b"/>
            <a:pathLst>
              <a:path w="783982" h="783982">
                <a:moveTo>
                  <a:pt x="0" y="0"/>
                </a:moveTo>
                <a:lnTo>
                  <a:pt x="783983" y="0"/>
                </a:lnTo>
                <a:lnTo>
                  <a:pt x="783983" y="783983"/>
                </a:lnTo>
                <a:lnTo>
                  <a:pt x="0" y="7839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a:off x="5881557" y="2379560"/>
            <a:ext cx="522655" cy="522655"/>
          </a:xfrm>
          <a:custGeom>
            <a:avLst/>
            <a:gdLst/>
            <a:ahLst/>
            <a:cxnLst/>
            <a:rect l="l" t="t" r="r" b="b"/>
            <a:pathLst>
              <a:path w="783982" h="783982">
                <a:moveTo>
                  <a:pt x="0" y="0"/>
                </a:moveTo>
                <a:lnTo>
                  <a:pt x="783983" y="0"/>
                </a:lnTo>
                <a:lnTo>
                  <a:pt x="783983" y="783983"/>
                </a:lnTo>
                <a:lnTo>
                  <a:pt x="0" y="7839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5881557" y="3520316"/>
            <a:ext cx="522655" cy="522655"/>
          </a:xfrm>
          <a:custGeom>
            <a:avLst/>
            <a:gdLst/>
            <a:ahLst/>
            <a:cxnLst/>
            <a:rect l="l" t="t" r="r" b="b"/>
            <a:pathLst>
              <a:path w="783982" h="783982">
                <a:moveTo>
                  <a:pt x="0" y="0"/>
                </a:moveTo>
                <a:lnTo>
                  <a:pt x="783983" y="0"/>
                </a:lnTo>
                <a:lnTo>
                  <a:pt x="783983" y="783983"/>
                </a:lnTo>
                <a:lnTo>
                  <a:pt x="0" y="7839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881557" y="4667422"/>
            <a:ext cx="522655" cy="522655"/>
          </a:xfrm>
          <a:custGeom>
            <a:avLst/>
            <a:gdLst/>
            <a:ahLst/>
            <a:cxnLst/>
            <a:rect l="l" t="t" r="r" b="b"/>
            <a:pathLst>
              <a:path w="783982" h="783982">
                <a:moveTo>
                  <a:pt x="0" y="0"/>
                </a:moveTo>
                <a:lnTo>
                  <a:pt x="783983" y="0"/>
                </a:lnTo>
                <a:lnTo>
                  <a:pt x="783983" y="783983"/>
                </a:lnTo>
                <a:lnTo>
                  <a:pt x="0" y="7839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2324493">
            <a:off x="1776234" y="3969597"/>
            <a:ext cx="1758955" cy="1919732"/>
          </a:xfrm>
          <a:custGeom>
            <a:avLst/>
            <a:gdLst/>
            <a:ahLst/>
            <a:cxnLst/>
            <a:rect l="l" t="t" r="r" b="b"/>
            <a:pathLst>
              <a:path w="2638432" h="2879598">
                <a:moveTo>
                  <a:pt x="0" y="0"/>
                </a:moveTo>
                <a:lnTo>
                  <a:pt x="2638431" y="0"/>
                </a:lnTo>
                <a:lnTo>
                  <a:pt x="2638431" y="2879598"/>
                </a:lnTo>
                <a:lnTo>
                  <a:pt x="0" y="2879598"/>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8" name="Freeform 8"/>
          <p:cNvSpPr/>
          <p:nvPr/>
        </p:nvSpPr>
        <p:spPr>
          <a:xfrm>
            <a:off x="1005840" y="955679"/>
            <a:ext cx="725017" cy="373383"/>
          </a:xfrm>
          <a:custGeom>
            <a:avLst/>
            <a:gdLst/>
            <a:ahLst/>
            <a:cxnLst/>
            <a:rect l="l" t="t" r="r" b="b"/>
            <a:pathLst>
              <a:path w="1087525" h="560075">
                <a:moveTo>
                  <a:pt x="0" y="0"/>
                </a:moveTo>
                <a:lnTo>
                  <a:pt x="1087525" y="0"/>
                </a:lnTo>
                <a:lnTo>
                  <a:pt x="1087525" y="560075"/>
                </a:lnTo>
                <a:lnTo>
                  <a:pt x="0" y="56007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rot="3240000">
            <a:off x="4080417" y="708769"/>
            <a:ext cx="340893" cy="871291"/>
          </a:xfrm>
          <a:custGeom>
            <a:avLst/>
            <a:gdLst/>
            <a:ahLst/>
            <a:cxnLst/>
            <a:rect l="l" t="t" r="r" b="b"/>
            <a:pathLst>
              <a:path w="511339" h="1306937">
                <a:moveTo>
                  <a:pt x="0" y="0"/>
                </a:moveTo>
                <a:lnTo>
                  <a:pt x="511339" y="0"/>
                </a:lnTo>
                <a:lnTo>
                  <a:pt x="511339" y="1306937"/>
                </a:lnTo>
                <a:lnTo>
                  <a:pt x="0" y="130693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rot="14040000">
            <a:off x="9958637" y="5029576"/>
            <a:ext cx="340893" cy="871291"/>
          </a:xfrm>
          <a:custGeom>
            <a:avLst/>
            <a:gdLst/>
            <a:ahLst/>
            <a:cxnLst/>
            <a:rect l="l" t="t" r="r" b="b"/>
            <a:pathLst>
              <a:path w="511339" h="1306937">
                <a:moveTo>
                  <a:pt x="0" y="0"/>
                </a:moveTo>
                <a:lnTo>
                  <a:pt x="511339" y="0"/>
                </a:lnTo>
                <a:lnTo>
                  <a:pt x="511339" y="1306938"/>
                </a:lnTo>
                <a:lnTo>
                  <a:pt x="0" y="130693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1005840" y="1943498"/>
            <a:ext cx="3437796" cy="110293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4107"/>
              </a:lnSpc>
            </a:pPr>
            <a:r>
              <a:rPr lang="en-US" sz="5400" b="1" spc="-225">
                <a:solidFill>
                  <a:srgbClr val="7030A0"/>
                </a:solidFill>
                <a:latin typeface="Calibri"/>
                <a:ea typeface="Calibri"/>
                <a:cs typeface="Calibri"/>
                <a:sym typeface="Heading Now 71-78"/>
              </a:rPr>
              <a:t>Team Intro &amp; Strengths</a:t>
            </a:r>
            <a:endParaRPr lang="en-US" sz="5400" b="1" spc="-225">
              <a:solidFill>
                <a:srgbClr val="7030A0"/>
              </a:solidFill>
              <a:latin typeface="Calibri"/>
              <a:ea typeface="Calibri"/>
              <a:cs typeface="Calibri"/>
            </a:endParaRPr>
          </a:p>
        </p:txBody>
      </p:sp>
      <p:sp>
        <p:nvSpPr>
          <p:cNvPr id="13" name="TextBox 13"/>
          <p:cNvSpPr txBox="1"/>
          <p:nvPr/>
        </p:nvSpPr>
        <p:spPr>
          <a:xfrm>
            <a:off x="6649968" y="1315405"/>
            <a:ext cx="3185076" cy="2821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4"/>
              </a:lnSpc>
            </a:pPr>
            <a:r>
              <a:rPr lang="en-US" sz="2000" b="1">
                <a:solidFill>
                  <a:srgbClr val="0B0A0A"/>
                </a:solidFill>
                <a:latin typeface="Calibri"/>
                <a:ea typeface="Calibri"/>
                <a:cs typeface="Calibri"/>
                <a:sym typeface="TT Firs Neue Bold"/>
              </a:rPr>
              <a:t>Research &amp; Validation </a:t>
            </a:r>
          </a:p>
        </p:txBody>
      </p:sp>
      <p:sp>
        <p:nvSpPr>
          <p:cNvPr id="14" name="TextBox 14"/>
          <p:cNvSpPr txBox="1"/>
          <p:nvPr/>
        </p:nvSpPr>
        <p:spPr>
          <a:xfrm>
            <a:off x="6649967" y="2351738"/>
            <a:ext cx="2745507" cy="29283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4"/>
              </a:lnSpc>
            </a:pPr>
            <a:r>
              <a:rPr lang="en-US" sz="2000" b="1">
                <a:solidFill>
                  <a:srgbClr val="0B0A0A"/>
                </a:solidFill>
                <a:latin typeface="Calibri"/>
                <a:ea typeface="Calibri"/>
                <a:cs typeface="Calibri"/>
                <a:sym typeface="TT Firs Neue Bold"/>
              </a:rPr>
              <a:t>Interaction Design</a:t>
            </a:r>
          </a:p>
        </p:txBody>
      </p:sp>
      <p:sp>
        <p:nvSpPr>
          <p:cNvPr id="15" name="TextBox 15"/>
          <p:cNvSpPr txBox="1"/>
          <p:nvPr/>
        </p:nvSpPr>
        <p:spPr>
          <a:xfrm>
            <a:off x="6649968" y="3487070"/>
            <a:ext cx="3932070" cy="2821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4"/>
              </a:lnSpc>
            </a:pPr>
            <a:r>
              <a:rPr lang="en-US" sz="2000" b="1">
                <a:solidFill>
                  <a:srgbClr val="0B0A0A"/>
                </a:solidFill>
                <a:latin typeface="Calibri"/>
                <a:ea typeface="Calibri"/>
                <a:cs typeface="Calibri"/>
                <a:sym typeface="TT Firs Neue Bold"/>
              </a:rPr>
              <a:t>Prototyping &amp; Development </a:t>
            </a:r>
          </a:p>
        </p:txBody>
      </p:sp>
      <p:sp>
        <p:nvSpPr>
          <p:cNvPr id="16" name="TextBox 16"/>
          <p:cNvSpPr txBox="1"/>
          <p:nvPr/>
        </p:nvSpPr>
        <p:spPr>
          <a:xfrm>
            <a:off x="6649967" y="4665298"/>
            <a:ext cx="2745507" cy="29283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4"/>
              </a:lnSpc>
            </a:pPr>
            <a:r>
              <a:rPr lang="en-US" sz="2000" b="1">
                <a:solidFill>
                  <a:srgbClr val="0B0A0A"/>
                </a:solidFill>
                <a:latin typeface="Calibri"/>
                <a:ea typeface="Calibri"/>
                <a:cs typeface="Calibri"/>
                <a:sym typeface="TT Firs Neue Bold"/>
              </a:rPr>
              <a:t>Coordination</a:t>
            </a:r>
          </a:p>
        </p:txBody>
      </p:sp>
      <p:sp>
        <p:nvSpPr>
          <p:cNvPr id="17" name="TextBox 17"/>
          <p:cNvSpPr txBox="1"/>
          <p:nvPr/>
        </p:nvSpPr>
        <p:spPr>
          <a:xfrm>
            <a:off x="6649968" y="1627530"/>
            <a:ext cx="4045497"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861"/>
              </a:lnSpc>
            </a:pPr>
            <a:r>
              <a:rPr lang="en-US" sz="1600">
                <a:solidFill>
                  <a:srgbClr val="0B0A0A"/>
                </a:solidFill>
                <a:latin typeface="Calibri"/>
                <a:ea typeface="Calibri"/>
                <a:cs typeface="Calibri"/>
                <a:sym typeface="TT Firs Neue"/>
              </a:rPr>
              <a:t>Understand real student experiences​</a:t>
            </a:r>
          </a:p>
        </p:txBody>
      </p:sp>
      <p:sp>
        <p:nvSpPr>
          <p:cNvPr id="18" name="TextBox 18"/>
          <p:cNvSpPr txBox="1"/>
          <p:nvPr/>
        </p:nvSpPr>
        <p:spPr>
          <a:xfrm>
            <a:off x="6649968" y="2663864"/>
            <a:ext cx="3932070"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861"/>
              </a:lnSpc>
            </a:pPr>
            <a:r>
              <a:rPr lang="en-US" sz="1600">
                <a:solidFill>
                  <a:srgbClr val="0B0A0A"/>
                </a:solidFill>
                <a:latin typeface="Calibri"/>
                <a:ea typeface="Calibri"/>
                <a:cs typeface="Calibri"/>
                <a:sym typeface="TT Firs Neue"/>
              </a:rPr>
              <a:t>Design low-pressure social interactions​</a:t>
            </a:r>
          </a:p>
        </p:txBody>
      </p:sp>
      <p:sp>
        <p:nvSpPr>
          <p:cNvPr id="19" name="TextBox 19"/>
          <p:cNvSpPr txBox="1"/>
          <p:nvPr/>
        </p:nvSpPr>
        <p:spPr>
          <a:xfrm>
            <a:off x="6649968" y="3797416"/>
            <a:ext cx="3932070"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861"/>
              </a:lnSpc>
            </a:pPr>
            <a:r>
              <a:rPr lang="en-US" sz="1600">
                <a:solidFill>
                  <a:srgbClr val="0B0A0A"/>
                </a:solidFill>
                <a:latin typeface="Calibri"/>
                <a:ea typeface="Calibri"/>
                <a:cs typeface="Calibri"/>
                <a:sym typeface="TT Firs Neue"/>
              </a:rPr>
              <a:t>Build and test the interactive prototype</a:t>
            </a:r>
          </a:p>
        </p:txBody>
      </p:sp>
      <p:sp>
        <p:nvSpPr>
          <p:cNvPr id="20" name="TextBox 20"/>
          <p:cNvSpPr txBox="1"/>
          <p:nvPr/>
        </p:nvSpPr>
        <p:spPr>
          <a:xfrm>
            <a:off x="6649968" y="4977424"/>
            <a:ext cx="3932070" cy="48731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861"/>
              </a:lnSpc>
            </a:pPr>
            <a:r>
              <a:rPr lang="en-US" sz="1600">
                <a:solidFill>
                  <a:srgbClr val="0B0A0A"/>
                </a:solidFill>
                <a:latin typeface="Calibri"/>
                <a:ea typeface="Calibri"/>
                <a:cs typeface="Calibri"/>
                <a:sym typeface="TT Firs Neue"/>
              </a:rPr>
              <a:t>Coordinate research, design and documentation​</a:t>
            </a:r>
          </a:p>
        </p:txBody>
      </p:sp>
    </p:spTree>
    <p:extLst>
      <p:ext uri="{BB962C8B-B14F-4D97-AF65-F5344CB8AC3E}">
        <p14:creationId xmlns:p14="http://schemas.microsoft.com/office/powerpoint/2010/main" val="121858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9"/>
        </a:solidFill>
        <a:effectLst/>
      </p:bgPr>
    </p:bg>
    <p:spTree>
      <p:nvGrpSpPr>
        <p:cNvPr id="1" name=""/>
        <p:cNvGrpSpPr/>
        <p:nvPr/>
      </p:nvGrpSpPr>
      <p:grpSpPr>
        <a:xfrm>
          <a:off x="0" y="0"/>
          <a:ext cx="0" cy="0"/>
          <a:chOff x="0" y="0"/>
          <a:chExt cx="0" cy="0"/>
        </a:xfrm>
      </p:grpSpPr>
      <p:grpSp>
        <p:nvGrpSpPr>
          <p:cNvPr id="2" name="Group 2"/>
          <p:cNvGrpSpPr/>
          <p:nvPr/>
        </p:nvGrpSpPr>
        <p:grpSpPr>
          <a:xfrm>
            <a:off x="1150325" y="4943617"/>
            <a:ext cx="3962073" cy="1553523"/>
            <a:chOff x="0" y="0"/>
            <a:chExt cx="1565264" cy="613737"/>
          </a:xfrm>
        </p:grpSpPr>
        <p:sp>
          <p:nvSpPr>
            <p:cNvPr id="3" name="Freeform 3"/>
            <p:cNvSpPr/>
            <p:nvPr/>
          </p:nvSpPr>
          <p:spPr>
            <a:xfrm>
              <a:off x="0" y="0"/>
              <a:ext cx="1565264" cy="613737"/>
            </a:xfrm>
            <a:custGeom>
              <a:avLst/>
              <a:gdLst/>
              <a:ahLst/>
              <a:cxnLst/>
              <a:rect l="l" t="t" r="r" b="b"/>
              <a:pathLst>
                <a:path w="1565264" h="613737">
                  <a:moveTo>
                    <a:pt x="27356" y="0"/>
                  </a:moveTo>
                  <a:lnTo>
                    <a:pt x="1537908" y="0"/>
                  </a:lnTo>
                  <a:cubicBezTo>
                    <a:pt x="1545163" y="0"/>
                    <a:pt x="1552121" y="2882"/>
                    <a:pt x="1557251" y="8012"/>
                  </a:cubicBezTo>
                  <a:cubicBezTo>
                    <a:pt x="1562381" y="13143"/>
                    <a:pt x="1565264" y="20101"/>
                    <a:pt x="1565264" y="27356"/>
                  </a:cubicBezTo>
                  <a:lnTo>
                    <a:pt x="1565264" y="586381"/>
                  </a:lnTo>
                  <a:cubicBezTo>
                    <a:pt x="1565264" y="593636"/>
                    <a:pt x="1562381" y="600595"/>
                    <a:pt x="1557251" y="605725"/>
                  </a:cubicBezTo>
                  <a:cubicBezTo>
                    <a:pt x="1552121" y="610855"/>
                    <a:pt x="1545163" y="613737"/>
                    <a:pt x="1537908" y="613737"/>
                  </a:cubicBezTo>
                  <a:lnTo>
                    <a:pt x="27356" y="613737"/>
                  </a:lnTo>
                  <a:cubicBezTo>
                    <a:pt x="20101" y="613737"/>
                    <a:pt x="13143" y="610855"/>
                    <a:pt x="8012" y="605725"/>
                  </a:cubicBezTo>
                  <a:cubicBezTo>
                    <a:pt x="2882" y="600595"/>
                    <a:pt x="0" y="593636"/>
                    <a:pt x="0" y="586381"/>
                  </a:cubicBezTo>
                  <a:lnTo>
                    <a:pt x="0" y="27356"/>
                  </a:lnTo>
                  <a:cubicBezTo>
                    <a:pt x="0" y="20101"/>
                    <a:pt x="2882" y="13143"/>
                    <a:pt x="8012" y="8012"/>
                  </a:cubicBezTo>
                  <a:cubicBezTo>
                    <a:pt x="13143" y="2882"/>
                    <a:pt x="20101" y="0"/>
                    <a:pt x="27356" y="0"/>
                  </a:cubicBezTo>
                  <a:close/>
                </a:path>
              </a:pathLst>
            </a:custGeom>
            <a:solidFill>
              <a:srgbClr val="E2A9F1"/>
            </a:solidFill>
          </p:spPr>
        </p:sp>
        <p:sp>
          <p:nvSpPr>
            <p:cNvPr id="4" name="TextBox 4"/>
            <p:cNvSpPr txBox="1"/>
            <p:nvPr/>
          </p:nvSpPr>
          <p:spPr>
            <a:xfrm>
              <a:off x="0" y="-57150"/>
              <a:ext cx="1565264" cy="670887"/>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99"/>
                </a:lnSpc>
              </a:pPr>
              <a:endParaRPr sz="800"/>
            </a:p>
          </p:txBody>
        </p:sp>
      </p:grpSp>
      <p:grpSp>
        <p:nvGrpSpPr>
          <p:cNvPr id="5" name="Group 5"/>
          <p:cNvGrpSpPr/>
          <p:nvPr/>
        </p:nvGrpSpPr>
        <p:grpSpPr>
          <a:xfrm>
            <a:off x="6604000" y="4983722"/>
            <a:ext cx="4587649" cy="1553523"/>
            <a:chOff x="0" y="0"/>
            <a:chExt cx="1812405" cy="613737"/>
          </a:xfrm>
        </p:grpSpPr>
        <p:sp>
          <p:nvSpPr>
            <p:cNvPr id="6" name="Freeform 6"/>
            <p:cNvSpPr/>
            <p:nvPr/>
          </p:nvSpPr>
          <p:spPr>
            <a:xfrm>
              <a:off x="0" y="0"/>
              <a:ext cx="1812404" cy="613737"/>
            </a:xfrm>
            <a:custGeom>
              <a:avLst/>
              <a:gdLst/>
              <a:ahLst/>
              <a:cxnLst/>
              <a:rect l="l" t="t" r="r" b="b"/>
              <a:pathLst>
                <a:path w="1812404" h="613737">
                  <a:moveTo>
                    <a:pt x="23626" y="0"/>
                  </a:moveTo>
                  <a:lnTo>
                    <a:pt x="1788779" y="0"/>
                  </a:lnTo>
                  <a:cubicBezTo>
                    <a:pt x="1801827" y="0"/>
                    <a:pt x="1812404" y="10578"/>
                    <a:pt x="1812404" y="23626"/>
                  </a:cubicBezTo>
                  <a:lnTo>
                    <a:pt x="1812404" y="590111"/>
                  </a:lnTo>
                  <a:cubicBezTo>
                    <a:pt x="1812404" y="596377"/>
                    <a:pt x="1809915" y="602387"/>
                    <a:pt x="1805485" y="606817"/>
                  </a:cubicBezTo>
                  <a:cubicBezTo>
                    <a:pt x="1801054" y="611248"/>
                    <a:pt x="1795045" y="613737"/>
                    <a:pt x="1788779" y="613737"/>
                  </a:cubicBezTo>
                  <a:lnTo>
                    <a:pt x="23626" y="613737"/>
                  </a:lnTo>
                  <a:cubicBezTo>
                    <a:pt x="10578" y="613737"/>
                    <a:pt x="0" y="603160"/>
                    <a:pt x="0" y="590111"/>
                  </a:cubicBezTo>
                  <a:lnTo>
                    <a:pt x="0" y="23626"/>
                  </a:lnTo>
                  <a:cubicBezTo>
                    <a:pt x="0" y="17360"/>
                    <a:pt x="2489" y="11351"/>
                    <a:pt x="6920" y="6920"/>
                  </a:cubicBezTo>
                  <a:cubicBezTo>
                    <a:pt x="11351" y="2489"/>
                    <a:pt x="17360" y="0"/>
                    <a:pt x="23626" y="0"/>
                  </a:cubicBezTo>
                  <a:close/>
                </a:path>
              </a:pathLst>
            </a:custGeom>
            <a:solidFill>
              <a:srgbClr val="AD94EA"/>
            </a:solidFill>
          </p:spPr>
        </p:sp>
        <p:sp>
          <p:nvSpPr>
            <p:cNvPr id="7" name="TextBox 7"/>
            <p:cNvSpPr txBox="1"/>
            <p:nvPr/>
          </p:nvSpPr>
          <p:spPr>
            <a:xfrm>
              <a:off x="0" y="-57150"/>
              <a:ext cx="1812405" cy="670887"/>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99"/>
                </a:lnSpc>
              </a:pPr>
              <a:endParaRPr sz="800"/>
            </a:p>
          </p:txBody>
        </p:sp>
      </p:grpSp>
      <p:sp>
        <p:nvSpPr>
          <p:cNvPr id="8" name="TextBox 8"/>
          <p:cNvSpPr txBox="1"/>
          <p:nvPr/>
        </p:nvSpPr>
        <p:spPr>
          <a:xfrm>
            <a:off x="1503191" y="5061706"/>
            <a:ext cx="787853" cy="2821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r>
              <a:rPr lang="en-US" sz="1850" b="1">
                <a:solidFill>
                  <a:srgbClr val="FFFFFF"/>
                </a:solidFill>
                <a:latin typeface="Calibri"/>
                <a:ea typeface="Calibri"/>
                <a:cs typeface="Calibri"/>
                <a:sym typeface="Helvetica World Bold"/>
              </a:rPr>
              <a:t>Social</a:t>
            </a:r>
          </a:p>
        </p:txBody>
      </p:sp>
      <p:sp>
        <p:nvSpPr>
          <p:cNvPr id="9" name="TextBox 9"/>
          <p:cNvSpPr txBox="1"/>
          <p:nvPr/>
        </p:nvSpPr>
        <p:spPr>
          <a:xfrm>
            <a:off x="6977111" y="5101811"/>
            <a:ext cx="1419835" cy="2821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r>
              <a:rPr lang="en-US" sz="1850" b="1">
                <a:solidFill>
                  <a:srgbClr val="FFFFFF"/>
                </a:solidFill>
                <a:latin typeface="Calibri"/>
                <a:ea typeface="Calibri"/>
                <a:cs typeface="Calibri"/>
                <a:sym typeface="Helvetica World Bold"/>
              </a:rPr>
              <a:t>Contextual</a:t>
            </a:r>
          </a:p>
        </p:txBody>
      </p:sp>
      <p:sp>
        <p:nvSpPr>
          <p:cNvPr id="10" name="TextBox 10"/>
          <p:cNvSpPr txBox="1"/>
          <p:nvPr/>
        </p:nvSpPr>
        <p:spPr>
          <a:xfrm>
            <a:off x="1341897" y="5432123"/>
            <a:ext cx="3586335" cy="87426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45440" lvl="1" indent="-172720" algn="l">
              <a:lnSpc>
                <a:spcPts val="2335"/>
              </a:lnSpc>
              <a:buFont typeface="Arial"/>
              <a:buChar char="•"/>
            </a:pPr>
            <a:r>
              <a:rPr lang="en-US" sz="1550">
                <a:solidFill>
                  <a:srgbClr val="FFFFFF"/>
                </a:solidFill>
                <a:latin typeface="Calibri"/>
                <a:ea typeface="Calibri"/>
                <a:cs typeface="Calibri"/>
                <a:sym typeface="Helvetica World"/>
              </a:rPr>
              <a:t>Asynchronous, low-pressure intros​</a:t>
            </a:r>
            <a:endParaRPr lang="en-US" sz="1550">
              <a:solidFill>
                <a:srgbClr val="FFFFFF"/>
              </a:solidFill>
              <a:latin typeface="Calibri"/>
              <a:ea typeface="Calibri"/>
              <a:cs typeface="Calibri"/>
            </a:endParaRPr>
          </a:p>
          <a:p>
            <a:pPr marL="345440" lvl="1" indent="-172720" algn="l">
              <a:lnSpc>
                <a:spcPts val="2335"/>
              </a:lnSpc>
              <a:buFont typeface="Arial"/>
              <a:buChar char="•"/>
            </a:pPr>
            <a:r>
              <a:rPr lang="en-US" sz="1550">
                <a:solidFill>
                  <a:srgbClr val="FFFFFF"/>
                </a:solidFill>
                <a:latin typeface="Calibri"/>
                <a:ea typeface="Calibri"/>
                <a:cs typeface="Calibri"/>
                <a:sym typeface="Helvetica World"/>
              </a:rPr>
              <a:t>Progressive disclosure​</a:t>
            </a:r>
            <a:endParaRPr lang="en-US" sz="1550">
              <a:solidFill>
                <a:srgbClr val="FFFFFF"/>
              </a:solidFill>
              <a:latin typeface="Calibri"/>
              <a:ea typeface="Calibri"/>
              <a:cs typeface="Calibri"/>
            </a:endParaRPr>
          </a:p>
          <a:p>
            <a:pPr marL="345440" lvl="1" indent="-172720" algn="l">
              <a:lnSpc>
                <a:spcPts val="2335"/>
              </a:lnSpc>
              <a:buFont typeface="Arial"/>
              <a:buChar char="•"/>
            </a:pPr>
            <a:r>
              <a:rPr lang="en-US" sz="1550">
                <a:solidFill>
                  <a:srgbClr val="FFFFFF"/>
                </a:solidFill>
                <a:latin typeface="Calibri"/>
                <a:ea typeface="Calibri"/>
                <a:cs typeface="Calibri"/>
                <a:sym typeface="Helvetica World"/>
              </a:rPr>
              <a:t>Shared awareness</a:t>
            </a:r>
            <a:endParaRPr lang="en-US" sz="1550">
              <a:solidFill>
                <a:srgbClr val="FFFFFF"/>
              </a:solidFill>
              <a:latin typeface="Calibri"/>
              <a:ea typeface="Calibri"/>
              <a:cs typeface="Calibri"/>
            </a:endParaRPr>
          </a:p>
        </p:txBody>
      </p:sp>
      <p:sp>
        <p:nvSpPr>
          <p:cNvPr id="11" name="TextBox 11"/>
          <p:cNvSpPr txBox="1"/>
          <p:nvPr/>
        </p:nvSpPr>
        <p:spPr>
          <a:xfrm>
            <a:off x="6852854" y="5472228"/>
            <a:ext cx="4107189" cy="85779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45440" lvl="1" indent="-172720" algn="l">
              <a:lnSpc>
                <a:spcPts val="2335"/>
              </a:lnSpc>
              <a:buFont typeface="Arial"/>
              <a:buChar char="•"/>
            </a:pPr>
            <a:r>
              <a:rPr lang="en-US" sz="1550">
                <a:solidFill>
                  <a:srgbClr val="FFFFFF"/>
                </a:solidFill>
                <a:latin typeface="Calibri"/>
                <a:ea typeface="Calibri"/>
                <a:cs typeface="Calibri"/>
                <a:sym typeface="Helvetica World"/>
              </a:rPr>
              <a:t>Matched to exact course + tutorial slot​</a:t>
            </a:r>
            <a:endParaRPr lang="en-US" sz="1550">
              <a:solidFill>
                <a:srgbClr val="FFFFFF"/>
              </a:solidFill>
              <a:latin typeface="Calibri"/>
              <a:ea typeface="Calibri"/>
              <a:cs typeface="Calibri"/>
            </a:endParaRPr>
          </a:p>
          <a:p>
            <a:pPr marL="345440" lvl="1" indent="-172720" algn="l">
              <a:lnSpc>
                <a:spcPts val="2335"/>
              </a:lnSpc>
              <a:buFont typeface="Arial"/>
              <a:buChar char="•"/>
            </a:pPr>
            <a:r>
              <a:rPr lang="en-US" sz="1550">
                <a:solidFill>
                  <a:srgbClr val="FFFFFF"/>
                </a:solidFill>
                <a:latin typeface="Calibri"/>
                <a:ea typeface="Calibri"/>
                <a:cs typeface="Calibri"/>
                <a:sym typeface="Helvetica World"/>
              </a:rPr>
              <a:t>Time-bound window​</a:t>
            </a:r>
            <a:endParaRPr lang="en-US" sz="1550">
              <a:solidFill>
                <a:srgbClr val="FFFFFF"/>
              </a:solidFill>
              <a:latin typeface="Calibri"/>
              <a:ea typeface="Calibri"/>
              <a:cs typeface="Calibri"/>
            </a:endParaRPr>
          </a:p>
          <a:p>
            <a:pPr marL="345440" lvl="1" indent="-172720" algn="l">
              <a:lnSpc>
                <a:spcPts val="2335"/>
              </a:lnSpc>
              <a:buFont typeface="Arial"/>
              <a:buChar char="•"/>
            </a:pPr>
            <a:r>
              <a:rPr lang="en-US" sz="1550">
                <a:solidFill>
                  <a:srgbClr val="FFFFFF"/>
                </a:solidFill>
                <a:latin typeface="Calibri"/>
                <a:ea typeface="Calibri"/>
                <a:cs typeface="Calibri"/>
                <a:sym typeface="Helvetica World"/>
              </a:rPr>
              <a:t>Online-to-offline bridge</a:t>
            </a:r>
            <a:endParaRPr lang="en-US" sz="1550">
              <a:solidFill>
                <a:srgbClr val="FFFFFF"/>
              </a:solidFill>
              <a:latin typeface="Calibri"/>
              <a:ea typeface="Calibri"/>
              <a:cs typeface="Calibri"/>
            </a:endParaRPr>
          </a:p>
        </p:txBody>
      </p:sp>
      <p:sp>
        <p:nvSpPr>
          <p:cNvPr id="12" name="TextBox 12"/>
          <p:cNvSpPr txBox="1"/>
          <p:nvPr/>
        </p:nvSpPr>
        <p:spPr>
          <a:xfrm>
            <a:off x="1069351" y="4415852"/>
            <a:ext cx="3595163" cy="3545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999"/>
              </a:lnSpc>
              <a:spcBef>
                <a:spcPct val="0"/>
              </a:spcBef>
            </a:pPr>
            <a:r>
              <a:rPr lang="en-US" sz="2000" b="1">
                <a:solidFill>
                  <a:srgbClr val="000000"/>
                </a:solidFill>
                <a:latin typeface="Calibri"/>
                <a:ea typeface="Calibri"/>
                <a:cs typeface="Calibri"/>
                <a:sym typeface="Helvetica World Bold"/>
              </a:rPr>
              <a:t>Why Social &amp; Mobile Computing:​</a:t>
            </a:r>
            <a:endParaRPr lang="en-US" sz="2000" b="1">
              <a:solidFill>
                <a:srgbClr val="000000"/>
              </a:solidFill>
              <a:latin typeface="Calibri"/>
              <a:ea typeface="Calibri"/>
              <a:cs typeface="Calibri"/>
            </a:endParaRPr>
          </a:p>
        </p:txBody>
      </p:sp>
      <p:sp>
        <p:nvSpPr>
          <p:cNvPr id="13" name="TextBox 13"/>
          <p:cNvSpPr txBox="1"/>
          <p:nvPr/>
        </p:nvSpPr>
        <p:spPr>
          <a:xfrm>
            <a:off x="917145" y="2472363"/>
            <a:ext cx="2272124" cy="3545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999"/>
              </a:lnSpc>
              <a:spcBef>
                <a:spcPct val="0"/>
              </a:spcBef>
            </a:pPr>
            <a:r>
              <a:rPr lang="en-US" sz="2000" b="1">
                <a:solidFill>
                  <a:srgbClr val="000000"/>
                </a:solidFill>
                <a:latin typeface="Calibri"/>
                <a:ea typeface="Calibri"/>
                <a:cs typeface="Calibri"/>
                <a:sym typeface="Helvetica World Bold"/>
              </a:rPr>
              <a:t>Why this matters:​</a:t>
            </a:r>
            <a:endParaRPr lang="en-US" sz="2000" b="1">
              <a:solidFill>
                <a:srgbClr val="000000"/>
              </a:solidFill>
              <a:latin typeface="Calibri"/>
              <a:ea typeface="Calibri"/>
              <a:cs typeface="Calibri"/>
            </a:endParaRPr>
          </a:p>
        </p:txBody>
      </p:sp>
      <p:sp>
        <p:nvSpPr>
          <p:cNvPr id="14" name="TextBox 14"/>
          <p:cNvSpPr txBox="1"/>
          <p:nvPr/>
        </p:nvSpPr>
        <p:spPr>
          <a:xfrm>
            <a:off x="1428050" y="2549455"/>
            <a:ext cx="2885305" cy="16504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3529"/>
              </a:lnSpc>
              <a:spcBef>
                <a:spcPct val="0"/>
              </a:spcBef>
            </a:pPr>
            <a:r>
              <a:rPr lang="en-US" sz="9600" b="1">
                <a:solidFill>
                  <a:srgbClr val="AD94EA"/>
                </a:solidFill>
                <a:latin typeface="Calibri"/>
                <a:ea typeface="Calibri"/>
                <a:cs typeface="Calibri"/>
                <a:sym typeface="Bricolage Grotesque Bold"/>
              </a:rPr>
              <a:t>34%</a:t>
            </a:r>
            <a:endParaRPr lang="en-US" sz="9600" b="1">
              <a:solidFill>
                <a:srgbClr val="AD94EA"/>
              </a:solidFill>
              <a:latin typeface="Calibri"/>
              <a:ea typeface="Calibri"/>
              <a:cs typeface="Calibri"/>
            </a:endParaRPr>
          </a:p>
        </p:txBody>
      </p:sp>
      <p:sp>
        <p:nvSpPr>
          <p:cNvPr id="15" name="Freeform 15"/>
          <p:cNvSpPr/>
          <p:nvPr/>
        </p:nvSpPr>
        <p:spPr>
          <a:xfrm rot="5400000">
            <a:off x="2275588" y="2288168"/>
            <a:ext cx="1199769" cy="2831093"/>
          </a:xfrm>
          <a:custGeom>
            <a:avLst/>
            <a:gdLst/>
            <a:ahLst/>
            <a:cxnLst/>
            <a:rect l="l" t="t" r="r" b="b"/>
            <a:pathLst>
              <a:path w="1739496" h="5078821">
                <a:moveTo>
                  <a:pt x="0" y="0"/>
                </a:moveTo>
                <a:lnTo>
                  <a:pt x="1739496" y="0"/>
                </a:lnTo>
                <a:lnTo>
                  <a:pt x="1739496" y="5078821"/>
                </a:lnTo>
                <a:lnTo>
                  <a:pt x="0" y="507882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724794" y="3706899"/>
            <a:ext cx="2510886" cy="55463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9"/>
              </a:lnSpc>
              <a:spcBef>
                <a:spcPct val="0"/>
              </a:spcBef>
            </a:pPr>
            <a:r>
              <a:rPr lang="en-US" sz="1600">
                <a:solidFill>
                  <a:srgbClr val="000000"/>
                </a:solidFill>
                <a:latin typeface="Calibri"/>
                <a:ea typeface="Calibri"/>
                <a:cs typeface="Calibri"/>
                <a:sym typeface="Open Sans"/>
              </a:rPr>
              <a:t>of students report unease in small-group interaction[1]</a:t>
            </a:r>
            <a:endParaRPr lang="en-US" sz="1600">
              <a:solidFill>
                <a:srgbClr val="000000"/>
              </a:solidFill>
              <a:latin typeface="Calibri"/>
              <a:ea typeface="Calibri"/>
              <a:cs typeface="Calibri"/>
            </a:endParaRPr>
          </a:p>
        </p:txBody>
      </p:sp>
      <p:sp>
        <p:nvSpPr>
          <p:cNvPr id="17" name="TextBox 17"/>
          <p:cNvSpPr txBox="1"/>
          <p:nvPr/>
        </p:nvSpPr>
        <p:spPr>
          <a:xfrm>
            <a:off x="6671867" y="2542770"/>
            <a:ext cx="3865170" cy="16504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3529"/>
              </a:lnSpc>
              <a:spcBef>
                <a:spcPct val="0"/>
              </a:spcBef>
            </a:pPr>
            <a:r>
              <a:rPr lang="en-US" sz="9600" b="1">
                <a:solidFill>
                  <a:srgbClr val="AD94EA"/>
                </a:solidFill>
                <a:latin typeface="Calibri"/>
                <a:ea typeface="Calibri"/>
                <a:cs typeface="Calibri"/>
                <a:sym typeface="Bricolage Grotesque Bold"/>
              </a:rPr>
              <a:t>~1 in 3</a:t>
            </a:r>
            <a:endParaRPr lang="en-US" sz="9600" b="1">
              <a:solidFill>
                <a:srgbClr val="AD94EA"/>
              </a:solidFill>
              <a:latin typeface="Calibri"/>
              <a:ea typeface="Calibri"/>
              <a:cs typeface="Calibri"/>
            </a:endParaRPr>
          </a:p>
        </p:txBody>
      </p:sp>
      <p:sp>
        <p:nvSpPr>
          <p:cNvPr id="18" name="Freeform 18"/>
          <p:cNvSpPr/>
          <p:nvPr/>
        </p:nvSpPr>
        <p:spPr>
          <a:xfrm rot="5400000">
            <a:off x="8025007" y="1518587"/>
            <a:ext cx="1507227" cy="4400665"/>
          </a:xfrm>
          <a:custGeom>
            <a:avLst/>
            <a:gdLst/>
            <a:ahLst/>
            <a:cxnLst/>
            <a:rect l="l" t="t" r="r" b="b"/>
            <a:pathLst>
              <a:path w="2260841" h="6600997">
                <a:moveTo>
                  <a:pt x="0" y="0"/>
                </a:moveTo>
                <a:lnTo>
                  <a:pt x="2260842" y="0"/>
                </a:lnTo>
                <a:lnTo>
                  <a:pt x="2260842" y="6600997"/>
                </a:lnTo>
                <a:lnTo>
                  <a:pt x="0" y="66009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7460603" y="3719933"/>
            <a:ext cx="3131467" cy="54356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2239"/>
              </a:lnSpc>
              <a:spcBef>
                <a:spcPct val="0"/>
              </a:spcBef>
            </a:pPr>
            <a:r>
              <a:rPr lang="en-US" sz="1550">
                <a:solidFill>
                  <a:srgbClr val="000000"/>
                </a:solidFill>
                <a:latin typeface="Calibri"/>
                <a:ea typeface="Calibri"/>
                <a:cs typeface="Calibri"/>
                <a:sym typeface="Open Sans"/>
              </a:rPr>
              <a:t>students report anxiety affecting academic performance[2]</a:t>
            </a:r>
            <a:endParaRPr lang="en-US" sz="1550">
              <a:solidFill>
                <a:srgbClr val="000000"/>
              </a:solidFill>
              <a:latin typeface="Calibri"/>
              <a:ea typeface="Calibri"/>
              <a:cs typeface="Calibri"/>
            </a:endParaRPr>
          </a:p>
        </p:txBody>
      </p:sp>
      <p:sp>
        <p:nvSpPr>
          <p:cNvPr id="20" name="TextBox 20"/>
          <p:cNvSpPr txBox="1"/>
          <p:nvPr/>
        </p:nvSpPr>
        <p:spPr>
          <a:xfrm>
            <a:off x="930514" y="248127"/>
            <a:ext cx="3696764" cy="36407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799"/>
              </a:lnSpc>
              <a:spcBef>
                <a:spcPct val="0"/>
              </a:spcBef>
            </a:pPr>
            <a:r>
              <a:rPr lang="en-US" sz="2800" b="1">
                <a:solidFill>
                  <a:srgbClr val="7030A0"/>
                </a:solidFill>
                <a:latin typeface="Calibri"/>
                <a:ea typeface="Calibri"/>
                <a:cs typeface="Calibri"/>
                <a:sym typeface="Helvetica World Bold"/>
              </a:rPr>
              <a:t>Domain/Problem Space</a:t>
            </a:r>
            <a:endParaRPr lang="en-US" sz="2800" b="1">
              <a:solidFill>
                <a:srgbClr val="7030A0"/>
              </a:solidFill>
              <a:latin typeface="Calibri"/>
              <a:ea typeface="Calibri"/>
              <a:cs typeface="Calibri"/>
            </a:endParaRPr>
          </a:p>
        </p:txBody>
      </p:sp>
      <p:sp>
        <p:nvSpPr>
          <p:cNvPr id="21" name="AutoShape 21"/>
          <p:cNvSpPr/>
          <p:nvPr/>
        </p:nvSpPr>
        <p:spPr>
          <a:xfrm>
            <a:off x="1053670" y="2287043"/>
            <a:ext cx="10386033" cy="33420"/>
          </a:xfrm>
          <a:prstGeom prst="line">
            <a:avLst/>
          </a:prstGeom>
          <a:ln w="28575" cap="flat">
            <a:solidFill>
              <a:srgbClr val="E2A9F1"/>
            </a:solidFill>
            <a:prstDash val="sysDash"/>
            <a:headEnd type="none" w="sm" len="sm"/>
            <a:tailEnd type="none" w="sm" len="sm"/>
          </a:ln>
        </p:spPr>
      </p:sp>
      <p:grpSp>
        <p:nvGrpSpPr>
          <p:cNvPr id="23" name="Group 23"/>
          <p:cNvGrpSpPr/>
          <p:nvPr/>
        </p:nvGrpSpPr>
        <p:grpSpPr>
          <a:xfrm rot="5400000">
            <a:off x="1995318" y="342102"/>
            <a:ext cx="318587" cy="2196202"/>
            <a:chOff x="0" y="0"/>
            <a:chExt cx="285089" cy="1720041"/>
          </a:xfrm>
        </p:grpSpPr>
        <p:sp>
          <p:nvSpPr>
            <p:cNvPr id="24" name="Freeform 24"/>
            <p:cNvSpPr/>
            <p:nvPr/>
          </p:nvSpPr>
          <p:spPr>
            <a:xfrm>
              <a:off x="0" y="0"/>
              <a:ext cx="285089" cy="1720041"/>
            </a:xfrm>
            <a:custGeom>
              <a:avLst/>
              <a:gdLst/>
              <a:ahLst/>
              <a:cxnLst/>
              <a:rect l="l" t="t" r="r" b="b"/>
              <a:pathLst>
                <a:path w="285089" h="1720041">
                  <a:moveTo>
                    <a:pt x="95081" y="19070"/>
                  </a:moveTo>
                  <a:cubicBezTo>
                    <a:pt x="109649" y="7556"/>
                    <a:pt x="126313" y="0"/>
                    <a:pt x="142621" y="0"/>
                  </a:cubicBezTo>
                  <a:cubicBezTo>
                    <a:pt x="158930" y="0"/>
                    <a:pt x="174623" y="6476"/>
                    <a:pt x="189085" y="17990"/>
                  </a:cubicBezTo>
                  <a:cubicBezTo>
                    <a:pt x="189393" y="18350"/>
                    <a:pt x="189700" y="18350"/>
                    <a:pt x="190008" y="18710"/>
                  </a:cubicBezTo>
                  <a:cubicBezTo>
                    <a:pt x="244318" y="64765"/>
                    <a:pt x="284319" y="186379"/>
                    <a:pt x="285089" y="348654"/>
                  </a:cubicBezTo>
                  <a:lnTo>
                    <a:pt x="285089" y="1720041"/>
                  </a:lnTo>
                  <a:lnTo>
                    <a:pt x="0" y="1720041"/>
                  </a:lnTo>
                  <a:lnTo>
                    <a:pt x="0" y="349672"/>
                  </a:lnTo>
                  <a:cubicBezTo>
                    <a:pt x="769" y="185660"/>
                    <a:pt x="40156" y="64045"/>
                    <a:pt x="95081" y="19070"/>
                  </a:cubicBezTo>
                  <a:close/>
                </a:path>
              </a:pathLst>
            </a:custGeom>
            <a:solidFill>
              <a:srgbClr val="E2A9F1"/>
            </a:solidFill>
          </p:spPr>
        </p:sp>
        <p:sp>
          <p:nvSpPr>
            <p:cNvPr id="25" name="TextBox 25"/>
            <p:cNvSpPr txBox="1"/>
            <p:nvPr/>
          </p:nvSpPr>
          <p:spPr>
            <a:xfrm>
              <a:off x="0" y="79375"/>
              <a:ext cx="285089" cy="1640666"/>
            </a:xfrm>
            <a:prstGeom prst="rect">
              <a:avLst/>
            </a:prstGeom>
          </p:spPr>
          <p:txBody>
            <a:bodyPr lIns="29851" tIns="29851" rIns="29851" bIns="29851"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sp>
        <p:nvSpPr>
          <p:cNvPr id="26" name="TextBox 26"/>
          <p:cNvSpPr txBox="1"/>
          <p:nvPr/>
        </p:nvSpPr>
        <p:spPr>
          <a:xfrm>
            <a:off x="1128807" y="1350697"/>
            <a:ext cx="1913400" cy="18594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309"/>
              </a:lnSpc>
            </a:pPr>
            <a:r>
              <a:rPr lang="en-US" sz="1800" b="1">
                <a:solidFill>
                  <a:srgbClr val="000000"/>
                </a:solidFill>
                <a:latin typeface="Calibri"/>
                <a:ea typeface="Calibri"/>
                <a:cs typeface="Calibri"/>
                <a:sym typeface="Helvetica World Bold"/>
              </a:rPr>
              <a:t>Domain Statement:​</a:t>
            </a:r>
            <a:endParaRPr lang="en-US" sz="1800" b="1">
              <a:solidFill>
                <a:srgbClr val="000000"/>
              </a:solidFill>
              <a:latin typeface="Calibri"/>
              <a:ea typeface="Calibri"/>
              <a:cs typeface="Calibri"/>
            </a:endParaRPr>
          </a:p>
        </p:txBody>
      </p:sp>
      <p:sp>
        <p:nvSpPr>
          <p:cNvPr id="28" name="TextBox 28"/>
          <p:cNvSpPr txBox="1"/>
          <p:nvPr/>
        </p:nvSpPr>
        <p:spPr>
          <a:xfrm>
            <a:off x="3144966" y="953869"/>
            <a:ext cx="37240" cy="21463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99"/>
              </a:lnSpc>
              <a:spcBef>
                <a:spcPct val="0"/>
              </a:spcBef>
            </a:pPr>
            <a:r>
              <a:rPr lang="en-US" sz="1199">
                <a:solidFill>
                  <a:srgbClr val="000000"/>
                </a:solidFill>
                <a:latin typeface="Helvetica World"/>
                <a:ea typeface="Helvetica World"/>
                <a:cs typeface="Helvetica World"/>
                <a:sym typeface="Helvetica World"/>
              </a:rPr>
              <a:t> ​</a:t>
            </a:r>
          </a:p>
        </p:txBody>
      </p:sp>
      <p:grpSp>
        <p:nvGrpSpPr>
          <p:cNvPr id="29" name="Group 29"/>
          <p:cNvGrpSpPr/>
          <p:nvPr/>
        </p:nvGrpSpPr>
        <p:grpSpPr>
          <a:xfrm>
            <a:off x="1056510" y="868010"/>
            <a:ext cx="135541" cy="135541"/>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94EA"/>
            </a:solidFill>
          </p:spPr>
        </p:sp>
        <p:sp>
          <p:nvSpPr>
            <p:cNvPr id="31" name="TextBox 31"/>
            <p:cNvSpPr txBox="1"/>
            <p:nvPr/>
          </p:nvSpPr>
          <p:spPr>
            <a:xfrm>
              <a:off x="76200" y="28575"/>
              <a:ext cx="660400" cy="70802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599"/>
                </a:lnSpc>
              </a:pPr>
              <a:endParaRPr sz="800"/>
            </a:p>
          </p:txBody>
        </p:sp>
      </p:grpSp>
      <p:sp>
        <p:nvSpPr>
          <p:cNvPr id="32" name="TextBox 32"/>
          <p:cNvSpPr txBox="1"/>
          <p:nvPr/>
        </p:nvSpPr>
        <p:spPr>
          <a:xfrm>
            <a:off x="1266486" y="811566"/>
            <a:ext cx="1909037"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19"/>
              </a:lnSpc>
            </a:pPr>
            <a:r>
              <a:rPr lang="en-US" sz="1800" b="1">
                <a:solidFill>
                  <a:srgbClr val="000000"/>
                </a:solidFill>
                <a:latin typeface="Calibri"/>
                <a:ea typeface="Calibri"/>
                <a:cs typeface="Calibri"/>
                <a:sym typeface="Helvetica World Bold"/>
              </a:rPr>
              <a:t>Domain:</a:t>
            </a:r>
            <a:endParaRPr lang="en-US" sz="1800" b="1">
              <a:solidFill>
                <a:srgbClr val="000000"/>
              </a:solidFill>
              <a:latin typeface="Calibri"/>
              <a:ea typeface="Calibri"/>
              <a:cs typeface="Calibri"/>
            </a:endParaRPr>
          </a:p>
        </p:txBody>
      </p:sp>
      <p:sp>
        <p:nvSpPr>
          <p:cNvPr id="33" name="TextBox 33"/>
          <p:cNvSpPr txBox="1"/>
          <p:nvPr/>
        </p:nvSpPr>
        <p:spPr>
          <a:xfrm>
            <a:off x="2219887" y="829576"/>
            <a:ext cx="5107231" cy="2148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599"/>
              </a:lnSpc>
            </a:pPr>
            <a:r>
              <a:rPr lang="en-US" sz="1800">
                <a:solidFill>
                  <a:srgbClr val="000000"/>
                </a:solidFill>
                <a:latin typeface="Calibri"/>
                <a:ea typeface="Calibri"/>
                <a:cs typeface="Calibri"/>
                <a:sym typeface="Helvetica World"/>
              </a:rPr>
              <a:t>Starting New Courses with Unfamiliar Group Members</a:t>
            </a:r>
            <a:endParaRPr lang="en-US" sz="1800">
              <a:solidFill>
                <a:srgbClr val="000000"/>
              </a:solidFill>
              <a:latin typeface="Calibri"/>
              <a:ea typeface="Calibri"/>
              <a:cs typeface="Calibri"/>
            </a:endParaRPr>
          </a:p>
        </p:txBody>
      </p:sp>
      <p:sp>
        <p:nvSpPr>
          <p:cNvPr id="35" name="文本框 34">
            <a:extLst>
              <a:ext uri="{FF2B5EF4-FFF2-40B4-BE49-F238E27FC236}">
                <a16:creationId xmlns:a16="http://schemas.microsoft.com/office/drawing/2014/main" id="{805EC391-B7D6-3F2C-6258-290E33F5A923}"/>
              </a:ext>
            </a:extLst>
          </p:cNvPr>
          <p:cNvSpPr txBox="1"/>
          <p:nvPr/>
        </p:nvSpPr>
        <p:spPr>
          <a:xfrm>
            <a:off x="1066891" y="1638392"/>
            <a:ext cx="103765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tLang="zh-CN">
                <a:ea typeface="Calibri"/>
                <a:cs typeface="Calibri"/>
              </a:rPr>
              <a:t>Enhancing UQ students' transition into group-based coursework with unfamiliar peers, with the possibilities of social and/or contextual computing.</a:t>
            </a:r>
            <a:endParaRPr lang="en-US" altLang="zh-CN">
              <a:ea typeface="Calibri"/>
              <a:cs typeface="Calibri"/>
            </a:endParaRPr>
          </a:p>
        </p:txBody>
      </p:sp>
      <p:cxnSp>
        <p:nvCxnSpPr>
          <p:cNvPr id="36" name="直接箭头连接符 35">
            <a:extLst>
              <a:ext uri="{FF2B5EF4-FFF2-40B4-BE49-F238E27FC236}">
                <a16:creationId xmlns:a16="http://schemas.microsoft.com/office/drawing/2014/main" id="{14567008-B888-8AD4-B006-87DC6827A856}"/>
              </a:ext>
            </a:extLst>
          </p:cNvPr>
          <p:cNvCxnSpPr/>
          <p:nvPr/>
        </p:nvCxnSpPr>
        <p:spPr>
          <a:xfrm flipH="1">
            <a:off x="1055059" y="1305919"/>
            <a:ext cx="2484" cy="993448"/>
          </a:xfrm>
          <a:prstGeom prst="straightConnector1">
            <a:avLst/>
          </a:prstGeom>
          <a:ln>
            <a:solidFill>
              <a:srgbClr val="D9ABEC"/>
            </a:solidFill>
          </a:ln>
        </p:spPr>
        <p:style>
          <a:lnRef idx="3">
            <a:schemeClr val="accent4"/>
          </a:lnRef>
          <a:fillRef idx="0">
            <a:schemeClr val="accent4"/>
          </a:fillRef>
          <a:effectRef idx="2">
            <a:schemeClr val="accent4"/>
          </a:effectRef>
          <a:fontRef idx="minor">
            <a:schemeClr val="tx1"/>
          </a:fontRef>
        </p:style>
      </p:cxnSp>
      <p:sp>
        <p:nvSpPr>
          <p:cNvPr id="37" name="文本框 36">
            <a:extLst>
              <a:ext uri="{FF2B5EF4-FFF2-40B4-BE49-F238E27FC236}">
                <a16:creationId xmlns:a16="http://schemas.microsoft.com/office/drawing/2014/main" id="{1BB3F88C-D1FC-5B7B-68EC-B255E5E6DCDF}"/>
              </a:ext>
            </a:extLst>
          </p:cNvPr>
          <p:cNvSpPr txBox="1"/>
          <p:nvPr/>
        </p:nvSpPr>
        <p:spPr>
          <a:xfrm>
            <a:off x="6089317" y="6667390"/>
            <a:ext cx="610268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[1] </a:t>
            </a:r>
            <a:r>
              <a:rPr lang="en-US" sz="800" err="1"/>
              <a:t>Xethakis</a:t>
            </a:r>
            <a:r>
              <a:rPr lang="en-US" sz="800"/>
              <a:t> et al., 2024, </a:t>
            </a:r>
            <a:r>
              <a:rPr lang="en-US" sz="800" i="1"/>
              <a:t>Frontiers in Education</a:t>
            </a:r>
            <a:r>
              <a:rPr lang="en-US" sz="800"/>
              <a:t>.                 [2] ACHA, 2022, </a:t>
            </a:r>
            <a:r>
              <a:rPr lang="en-US" sz="800" i="1"/>
              <a:t>NCHA III Undergraduate Student Reference Group Executive Summary</a:t>
            </a:r>
            <a:r>
              <a:rPr lang="en-US" sz="800"/>
              <a:t>.</a:t>
            </a:r>
            <a:endParaRPr lang="en-US" altLang="zh-CN" sz="800">
              <a:ea typeface="等线"/>
              <a:cs typeface="Calibri"/>
            </a:endParaRPr>
          </a:p>
        </p:txBody>
      </p:sp>
    </p:spTree>
    <p:extLst>
      <p:ext uri="{BB962C8B-B14F-4D97-AF65-F5344CB8AC3E}">
        <p14:creationId xmlns:p14="http://schemas.microsoft.com/office/powerpoint/2010/main" val="3930961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6421" y="4923204"/>
            <a:ext cx="1765379" cy="811888"/>
            <a:chOff x="0" y="0"/>
            <a:chExt cx="697434" cy="320746"/>
          </a:xfrm>
        </p:grpSpPr>
        <p:sp>
          <p:nvSpPr>
            <p:cNvPr id="3" name="Freeform 3"/>
            <p:cNvSpPr/>
            <p:nvPr/>
          </p:nvSpPr>
          <p:spPr>
            <a:xfrm>
              <a:off x="0" y="0"/>
              <a:ext cx="697434" cy="320746"/>
            </a:xfrm>
            <a:custGeom>
              <a:avLst/>
              <a:gdLst/>
              <a:ahLst/>
              <a:cxnLst/>
              <a:rect l="l" t="t" r="r" b="b"/>
              <a:pathLst>
                <a:path w="697434" h="320746">
                  <a:moveTo>
                    <a:pt x="122792" y="0"/>
                  </a:moveTo>
                  <a:lnTo>
                    <a:pt x="574642" y="0"/>
                  </a:lnTo>
                  <a:cubicBezTo>
                    <a:pt x="642458" y="0"/>
                    <a:pt x="697434" y="54976"/>
                    <a:pt x="697434" y="122792"/>
                  </a:cubicBezTo>
                  <a:lnTo>
                    <a:pt x="697434" y="197954"/>
                  </a:lnTo>
                  <a:cubicBezTo>
                    <a:pt x="697434" y="265770"/>
                    <a:pt x="642458" y="320746"/>
                    <a:pt x="574642" y="320746"/>
                  </a:cubicBezTo>
                  <a:lnTo>
                    <a:pt x="122792" y="320746"/>
                  </a:lnTo>
                  <a:cubicBezTo>
                    <a:pt x="54976" y="320746"/>
                    <a:pt x="0" y="265770"/>
                    <a:pt x="0" y="197954"/>
                  </a:cubicBezTo>
                  <a:lnTo>
                    <a:pt x="0" y="122792"/>
                  </a:lnTo>
                  <a:cubicBezTo>
                    <a:pt x="0" y="54976"/>
                    <a:pt x="54976" y="0"/>
                    <a:pt x="122792" y="0"/>
                  </a:cubicBezTo>
                  <a:close/>
                </a:path>
              </a:pathLst>
            </a:custGeom>
            <a:solidFill>
              <a:srgbClr val="E2A9F1"/>
            </a:solidFill>
          </p:spPr>
        </p:sp>
        <p:sp>
          <p:nvSpPr>
            <p:cNvPr id="4" name="TextBox 4"/>
            <p:cNvSpPr txBox="1"/>
            <p:nvPr/>
          </p:nvSpPr>
          <p:spPr>
            <a:xfrm>
              <a:off x="0" y="-38100"/>
              <a:ext cx="697434" cy="358846"/>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5" name="Group 5"/>
          <p:cNvGrpSpPr/>
          <p:nvPr/>
        </p:nvGrpSpPr>
        <p:grpSpPr>
          <a:xfrm>
            <a:off x="5213311" y="4935497"/>
            <a:ext cx="1765379" cy="811888"/>
            <a:chOff x="0" y="0"/>
            <a:chExt cx="697434" cy="320746"/>
          </a:xfrm>
        </p:grpSpPr>
        <p:sp>
          <p:nvSpPr>
            <p:cNvPr id="6" name="Freeform 6"/>
            <p:cNvSpPr/>
            <p:nvPr/>
          </p:nvSpPr>
          <p:spPr>
            <a:xfrm>
              <a:off x="0" y="0"/>
              <a:ext cx="697434" cy="320746"/>
            </a:xfrm>
            <a:custGeom>
              <a:avLst/>
              <a:gdLst/>
              <a:ahLst/>
              <a:cxnLst/>
              <a:rect l="l" t="t" r="r" b="b"/>
              <a:pathLst>
                <a:path w="697434" h="320746">
                  <a:moveTo>
                    <a:pt x="122792" y="0"/>
                  </a:moveTo>
                  <a:lnTo>
                    <a:pt x="574642" y="0"/>
                  </a:lnTo>
                  <a:cubicBezTo>
                    <a:pt x="642458" y="0"/>
                    <a:pt x="697434" y="54976"/>
                    <a:pt x="697434" y="122792"/>
                  </a:cubicBezTo>
                  <a:lnTo>
                    <a:pt x="697434" y="197954"/>
                  </a:lnTo>
                  <a:cubicBezTo>
                    <a:pt x="697434" y="265770"/>
                    <a:pt x="642458" y="320746"/>
                    <a:pt x="574642" y="320746"/>
                  </a:cubicBezTo>
                  <a:lnTo>
                    <a:pt x="122792" y="320746"/>
                  </a:lnTo>
                  <a:cubicBezTo>
                    <a:pt x="54976" y="320746"/>
                    <a:pt x="0" y="265770"/>
                    <a:pt x="0" y="197954"/>
                  </a:cubicBezTo>
                  <a:lnTo>
                    <a:pt x="0" y="122792"/>
                  </a:lnTo>
                  <a:cubicBezTo>
                    <a:pt x="0" y="54976"/>
                    <a:pt x="54976" y="0"/>
                    <a:pt x="122792" y="0"/>
                  </a:cubicBezTo>
                  <a:close/>
                </a:path>
              </a:pathLst>
            </a:custGeom>
            <a:solidFill>
              <a:srgbClr val="E2A9F1"/>
            </a:solidFill>
          </p:spPr>
        </p:sp>
        <p:sp>
          <p:nvSpPr>
            <p:cNvPr id="7" name="TextBox 7"/>
            <p:cNvSpPr txBox="1"/>
            <p:nvPr/>
          </p:nvSpPr>
          <p:spPr>
            <a:xfrm>
              <a:off x="0" y="-38100"/>
              <a:ext cx="697434" cy="358846"/>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8" name="Group 8"/>
          <p:cNvGrpSpPr/>
          <p:nvPr/>
        </p:nvGrpSpPr>
        <p:grpSpPr>
          <a:xfrm>
            <a:off x="840801" y="5506281"/>
            <a:ext cx="2303198" cy="1061955"/>
            <a:chOff x="0" y="0"/>
            <a:chExt cx="896702" cy="517243"/>
          </a:xfrm>
        </p:grpSpPr>
        <p:sp>
          <p:nvSpPr>
            <p:cNvPr id="9" name="Freeform 9"/>
            <p:cNvSpPr/>
            <p:nvPr/>
          </p:nvSpPr>
          <p:spPr>
            <a:xfrm>
              <a:off x="0" y="0"/>
              <a:ext cx="896702" cy="517243"/>
            </a:xfrm>
            <a:custGeom>
              <a:avLst/>
              <a:gdLst/>
              <a:ahLst/>
              <a:cxnLst/>
              <a:rect l="l" t="t" r="r" b="b"/>
              <a:pathLst>
                <a:path w="896702" h="517243">
                  <a:moveTo>
                    <a:pt x="50026" y="0"/>
                  </a:moveTo>
                  <a:lnTo>
                    <a:pt x="846676" y="0"/>
                  </a:lnTo>
                  <a:cubicBezTo>
                    <a:pt x="874305" y="0"/>
                    <a:pt x="896702" y="22397"/>
                    <a:pt x="896702" y="50026"/>
                  </a:cubicBezTo>
                  <a:lnTo>
                    <a:pt x="896702" y="467217"/>
                  </a:lnTo>
                  <a:cubicBezTo>
                    <a:pt x="896702" y="494845"/>
                    <a:pt x="874305" y="517243"/>
                    <a:pt x="846676" y="517243"/>
                  </a:cubicBezTo>
                  <a:lnTo>
                    <a:pt x="50026" y="517243"/>
                  </a:lnTo>
                  <a:cubicBezTo>
                    <a:pt x="22397" y="517243"/>
                    <a:pt x="0" y="494845"/>
                    <a:pt x="0" y="467217"/>
                  </a:cubicBezTo>
                  <a:lnTo>
                    <a:pt x="0" y="50026"/>
                  </a:lnTo>
                  <a:cubicBezTo>
                    <a:pt x="0" y="22397"/>
                    <a:pt x="22397" y="0"/>
                    <a:pt x="50026" y="0"/>
                  </a:cubicBezTo>
                  <a:close/>
                </a:path>
              </a:pathLst>
            </a:custGeom>
            <a:solidFill>
              <a:srgbClr val="F4F4F4"/>
            </a:solidFill>
          </p:spPr>
        </p:sp>
        <p:sp>
          <p:nvSpPr>
            <p:cNvPr id="10" name="TextBox 10"/>
            <p:cNvSpPr txBox="1"/>
            <p:nvPr/>
          </p:nvSpPr>
          <p:spPr>
            <a:xfrm>
              <a:off x="0" y="-38100"/>
              <a:ext cx="896702" cy="555343"/>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11" name="Group 11"/>
          <p:cNvGrpSpPr/>
          <p:nvPr/>
        </p:nvGrpSpPr>
        <p:grpSpPr>
          <a:xfrm>
            <a:off x="4961111" y="5518574"/>
            <a:ext cx="2269778" cy="1068639"/>
            <a:chOff x="0" y="0"/>
            <a:chExt cx="896702" cy="517243"/>
          </a:xfrm>
        </p:grpSpPr>
        <p:sp>
          <p:nvSpPr>
            <p:cNvPr id="12" name="Freeform 12"/>
            <p:cNvSpPr/>
            <p:nvPr/>
          </p:nvSpPr>
          <p:spPr>
            <a:xfrm>
              <a:off x="0" y="0"/>
              <a:ext cx="896702" cy="517243"/>
            </a:xfrm>
            <a:custGeom>
              <a:avLst/>
              <a:gdLst/>
              <a:ahLst/>
              <a:cxnLst/>
              <a:rect l="l" t="t" r="r" b="b"/>
              <a:pathLst>
                <a:path w="896702" h="517243">
                  <a:moveTo>
                    <a:pt x="50026" y="0"/>
                  </a:moveTo>
                  <a:lnTo>
                    <a:pt x="846676" y="0"/>
                  </a:lnTo>
                  <a:cubicBezTo>
                    <a:pt x="874305" y="0"/>
                    <a:pt x="896702" y="22397"/>
                    <a:pt x="896702" y="50026"/>
                  </a:cubicBezTo>
                  <a:lnTo>
                    <a:pt x="896702" y="467217"/>
                  </a:lnTo>
                  <a:cubicBezTo>
                    <a:pt x="896702" y="494845"/>
                    <a:pt x="874305" y="517243"/>
                    <a:pt x="846676" y="517243"/>
                  </a:cubicBezTo>
                  <a:lnTo>
                    <a:pt x="50026" y="517243"/>
                  </a:lnTo>
                  <a:cubicBezTo>
                    <a:pt x="22397" y="517243"/>
                    <a:pt x="0" y="494845"/>
                    <a:pt x="0" y="467217"/>
                  </a:cubicBezTo>
                  <a:lnTo>
                    <a:pt x="0" y="50026"/>
                  </a:lnTo>
                  <a:cubicBezTo>
                    <a:pt x="0" y="22397"/>
                    <a:pt x="22397" y="0"/>
                    <a:pt x="50026" y="0"/>
                  </a:cubicBezTo>
                  <a:close/>
                </a:path>
              </a:pathLst>
            </a:custGeom>
            <a:solidFill>
              <a:srgbClr val="F4F4F4"/>
            </a:solidFill>
          </p:spPr>
        </p:sp>
        <p:sp>
          <p:nvSpPr>
            <p:cNvPr id="13" name="TextBox 13"/>
            <p:cNvSpPr txBox="1"/>
            <p:nvPr/>
          </p:nvSpPr>
          <p:spPr>
            <a:xfrm>
              <a:off x="0" y="-38100"/>
              <a:ext cx="896702" cy="555343"/>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14" name="Group 14"/>
          <p:cNvGrpSpPr/>
          <p:nvPr/>
        </p:nvGrpSpPr>
        <p:grpSpPr>
          <a:xfrm>
            <a:off x="9252297" y="4849639"/>
            <a:ext cx="1765379" cy="908329"/>
            <a:chOff x="0" y="-38100"/>
            <a:chExt cx="697434" cy="358846"/>
          </a:xfrm>
        </p:grpSpPr>
        <p:sp>
          <p:nvSpPr>
            <p:cNvPr id="15" name="Freeform 15"/>
            <p:cNvSpPr/>
            <p:nvPr/>
          </p:nvSpPr>
          <p:spPr>
            <a:xfrm>
              <a:off x="0" y="0"/>
              <a:ext cx="697434" cy="320746"/>
            </a:xfrm>
            <a:custGeom>
              <a:avLst/>
              <a:gdLst/>
              <a:ahLst/>
              <a:cxnLst/>
              <a:rect l="l" t="t" r="r" b="b"/>
              <a:pathLst>
                <a:path w="697434" h="320746">
                  <a:moveTo>
                    <a:pt x="122792" y="0"/>
                  </a:moveTo>
                  <a:lnTo>
                    <a:pt x="574642" y="0"/>
                  </a:lnTo>
                  <a:cubicBezTo>
                    <a:pt x="642458" y="0"/>
                    <a:pt x="697434" y="54976"/>
                    <a:pt x="697434" y="122792"/>
                  </a:cubicBezTo>
                  <a:lnTo>
                    <a:pt x="697434" y="197954"/>
                  </a:lnTo>
                  <a:cubicBezTo>
                    <a:pt x="697434" y="265770"/>
                    <a:pt x="642458" y="320746"/>
                    <a:pt x="574642" y="320746"/>
                  </a:cubicBezTo>
                  <a:lnTo>
                    <a:pt x="122792" y="320746"/>
                  </a:lnTo>
                  <a:cubicBezTo>
                    <a:pt x="54976" y="320746"/>
                    <a:pt x="0" y="265770"/>
                    <a:pt x="0" y="197954"/>
                  </a:cubicBezTo>
                  <a:lnTo>
                    <a:pt x="0" y="122792"/>
                  </a:lnTo>
                  <a:cubicBezTo>
                    <a:pt x="0" y="54976"/>
                    <a:pt x="54976" y="0"/>
                    <a:pt x="122792" y="0"/>
                  </a:cubicBezTo>
                  <a:close/>
                </a:path>
              </a:pathLst>
            </a:custGeom>
            <a:solidFill>
              <a:srgbClr val="E2A9F1"/>
            </a:solidFill>
          </p:spPr>
        </p:sp>
        <p:sp>
          <p:nvSpPr>
            <p:cNvPr id="16" name="TextBox 16"/>
            <p:cNvSpPr txBox="1"/>
            <p:nvPr/>
          </p:nvSpPr>
          <p:spPr>
            <a:xfrm>
              <a:off x="0" y="-38100"/>
              <a:ext cx="697434" cy="358846"/>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17" name="Group 17"/>
          <p:cNvGrpSpPr/>
          <p:nvPr/>
        </p:nvGrpSpPr>
        <p:grpSpPr>
          <a:xfrm>
            <a:off x="8993414" y="5470986"/>
            <a:ext cx="2276462" cy="1140179"/>
            <a:chOff x="0" y="-38100"/>
            <a:chExt cx="896702" cy="555343"/>
          </a:xfrm>
        </p:grpSpPr>
        <p:sp>
          <p:nvSpPr>
            <p:cNvPr id="18" name="Freeform 18"/>
            <p:cNvSpPr/>
            <p:nvPr/>
          </p:nvSpPr>
          <p:spPr>
            <a:xfrm>
              <a:off x="0" y="0"/>
              <a:ext cx="896702" cy="517243"/>
            </a:xfrm>
            <a:custGeom>
              <a:avLst/>
              <a:gdLst/>
              <a:ahLst/>
              <a:cxnLst/>
              <a:rect l="l" t="t" r="r" b="b"/>
              <a:pathLst>
                <a:path w="896702" h="517243">
                  <a:moveTo>
                    <a:pt x="50026" y="0"/>
                  </a:moveTo>
                  <a:lnTo>
                    <a:pt x="846676" y="0"/>
                  </a:lnTo>
                  <a:cubicBezTo>
                    <a:pt x="874305" y="0"/>
                    <a:pt x="896702" y="22397"/>
                    <a:pt x="896702" y="50026"/>
                  </a:cubicBezTo>
                  <a:lnTo>
                    <a:pt x="896702" y="467217"/>
                  </a:lnTo>
                  <a:cubicBezTo>
                    <a:pt x="896702" y="494845"/>
                    <a:pt x="874305" y="517243"/>
                    <a:pt x="846676" y="517243"/>
                  </a:cubicBezTo>
                  <a:lnTo>
                    <a:pt x="50026" y="517243"/>
                  </a:lnTo>
                  <a:cubicBezTo>
                    <a:pt x="22397" y="517243"/>
                    <a:pt x="0" y="494845"/>
                    <a:pt x="0" y="467217"/>
                  </a:cubicBezTo>
                  <a:lnTo>
                    <a:pt x="0" y="50026"/>
                  </a:lnTo>
                  <a:cubicBezTo>
                    <a:pt x="0" y="22397"/>
                    <a:pt x="22397" y="0"/>
                    <a:pt x="50026" y="0"/>
                  </a:cubicBezTo>
                  <a:close/>
                </a:path>
              </a:pathLst>
            </a:custGeom>
            <a:solidFill>
              <a:srgbClr val="F4F4F4"/>
            </a:solidFill>
          </p:spPr>
        </p:sp>
        <p:sp>
          <p:nvSpPr>
            <p:cNvPr id="19" name="TextBox 19"/>
            <p:cNvSpPr txBox="1"/>
            <p:nvPr/>
          </p:nvSpPr>
          <p:spPr>
            <a:xfrm>
              <a:off x="0" y="-38100"/>
              <a:ext cx="896702" cy="555343"/>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20" name="Group 20"/>
          <p:cNvGrpSpPr/>
          <p:nvPr/>
        </p:nvGrpSpPr>
        <p:grpSpPr>
          <a:xfrm>
            <a:off x="1078184" y="2800464"/>
            <a:ext cx="3712964" cy="1462463"/>
            <a:chOff x="0" y="0"/>
            <a:chExt cx="1254165" cy="493991"/>
          </a:xfrm>
        </p:grpSpPr>
        <p:sp>
          <p:nvSpPr>
            <p:cNvPr id="21" name="Freeform 21"/>
            <p:cNvSpPr/>
            <p:nvPr/>
          </p:nvSpPr>
          <p:spPr>
            <a:xfrm>
              <a:off x="0" y="0"/>
              <a:ext cx="1254165" cy="493991"/>
            </a:xfrm>
            <a:custGeom>
              <a:avLst/>
              <a:gdLst/>
              <a:ahLst/>
              <a:cxnLst/>
              <a:rect l="l" t="t" r="r" b="b"/>
              <a:pathLst>
                <a:path w="1254165" h="493991">
                  <a:moveTo>
                    <a:pt x="26411" y="0"/>
                  </a:moveTo>
                  <a:lnTo>
                    <a:pt x="1227753" y="0"/>
                  </a:lnTo>
                  <a:cubicBezTo>
                    <a:pt x="1242340" y="0"/>
                    <a:pt x="1254165" y="11825"/>
                    <a:pt x="1254165" y="26411"/>
                  </a:cubicBezTo>
                  <a:lnTo>
                    <a:pt x="1254165" y="467579"/>
                  </a:lnTo>
                  <a:cubicBezTo>
                    <a:pt x="1254165" y="482166"/>
                    <a:pt x="1242340" y="493991"/>
                    <a:pt x="1227753" y="493991"/>
                  </a:cubicBezTo>
                  <a:lnTo>
                    <a:pt x="26411" y="493991"/>
                  </a:lnTo>
                  <a:cubicBezTo>
                    <a:pt x="11825" y="493991"/>
                    <a:pt x="0" y="482166"/>
                    <a:pt x="0" y="467579"/>
                  </a:cubicBezTo>
                  <a:lnTo>
                    <a:pt x="0" y="26411"/>
                  </a:lnTo>
                  <a:cubicBezTo>
                    <a:pt x="0" y="11825"/>
                    <a:pt x="11825" y="0"/>
                    <a:pt x="26411" y="0"/>
                  </a:cubicBezTo>
                  <a:close/>
                </a:path>
              </a:pathLst>
            </a:custGeom>
            <a:solidFill>
              <a:srgbClr val="FFFFFF"/>
            </a:solidFill>
          </p:spPr>
        </p:sp>
        <p:sp>
          <p:nvSpPr>
            <p:cNvPr id="22" name="TextBox 22"/>
            <p:cNvSpPr txBox="1"/>
            <p:nvPr/>
          </p:nvSpPr>
          <p:spPr>
            <a:xfrm>
              <a:off x="0" y="-38100"/>
              <a:ext cx="1254165" cy="532091"/>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23" name="Group 23"/>
          <p:cNvGrpSpPr/>
          <p:nvPr/>
        </p:nvGrpSpPr>
        <p:grpSpPr>
          <a:xfrm>
            <a:off x="5603426" y="2691106"/>
            <a:ext cx="3712964" cy="1462463"/>
            <a:chOff x="0" y="0"/>
            <a:chExt cx="1254165" cy="493991"/>
          </a:xfrm>
        </p:grpSpPr>
        <p:sp>
          <p:nvSpPr>
            <p:cNvPr id="24" name="Freeform 24"/>
            <p:cNvSpPr/>
            <p:nvPr/>
          </p:nvSpPr>
          <p:spPr>
            <a:xfrm>
              <a:off x="0" y="0"/>
              <a:ext cx="1254165" cy="493991"/>
            </a:xfrm>
            <a:custGeom>
              <a:avLst/>
              <a:gdLst/>
              <a:ahLst/>
              <a:cxnLst/>
              <a:rect l="l" t="t" r="r" b="b"/>
              <a:pathLst>
                <a:path w="1254165" h="493991">
                  <a:moveTo>
                    <a:pt x="26411" y="0"/>
                  </a:moveTo>
                  <a:lnTo>
                    <a:pt x="1227753" y="0"/>
                  </a:lnTo>
                  <a:cubicBezTo>
                    <a:pt x="1242340" y="0"/>
                    <a:pt x="1254165" y="11825"/>
                    <a:pt x="1254165" y="26411"/>
                  </a:cubicBezTo>
                  <a:lnTo>
                    <a:pt x="1254165" y="467579"/>
                  </a:lnTo>
                  <a:cubicBezTo>
                    <a:pt x="1254165" y="482166"/>
                    <a:pt x="1242340" y="493991"/>
                    <a:pt x="1227753" y="493991"/>
                  </a:cubicBezTo>
                  <a:lnTo>
                    <a:pt x="26411" y="493991"/>
                  </a:lnTo>
                  <a:cubicBezTo>
                    <a:pt x="11825" y="493991"/>
                    <a:pt x="0" y="482166"/>
                    <a:pt x="0" y="467579"/>
                  </a:cubicBezTo>
                  <a:lnTo>
                    <a:pt x="0" y="26411"/>
                  </a:lnTo>
                  <a:cubicBezTo>
                    <a:pt x="0" y="11825"/>
                    <a:pt x="11825" y="0"/>
                    <a:pt x="26411" y="0"/>
                  </a:cubicBezTo>
                  <a:close/>
                </a:path>
              </a:pathLst>
            </a:custGeom>
            <a:solidFill>
              <a:srgbClr val="FFFFFF"/>
            </a:solidFill>
          </p:spPr>
        </p:sp>
        <p:sp>
          <p:nvSpPr>
            <p:cNvPr id="25" name="TextBox 25"/>
            <p:cNvSpPr txBox="1"/>
            <p:nvPr/>
          </p:nvSpPr>
          <p:spPr>
            <a:xfrm>
              <a:off x="0" y="-38100"/>
              <a:ext cx="1254165" cy="532091"/>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grpSp>
        <p:nvGrpSpPr>
          <p:cNvPr id="26" name="Group 26"/>
          <p:cNvGrpSpPr/>
          <p:nvPr/>
        </p:nvGrpSpPr>
        <p:grpSpPr>
          <a:xfrm rot="18567251">
            <a:off x="361027" y="2742098"/>
            <a:ext cx="1894055" cy="965597"/>
            <a:chOff x="0" y="0"/>
            <a:chExt cx="647700" cy="330200"/>
          </a:xfrm>
        </p:grpSpPr>
        <p:sp>
          <p:nvSpPr>
            <p:cNvPr id="27" name="Freeform 27"/>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solidFill>
              <a:srgbClr val="AD94EA"/>
            </a:solidFill>
          </p:spPr>
        </p:sp>
        <p:sp>
          <p:nvSpPr>
            <p:cNvPr id="28" name="TextBox 28"/>
            <p:cNvSpPr txBox="1"/>
            <p:nvPr/>
          </p:nvSpPr>
          <p:spPr>
            <a:xfrm>
              <a:off x="152400" y="12700"/>
              <a:ext cx="342900" cy="317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solidFill>
                  <a:srgbClr val="7030A0"/>
                </a:solidFill>
              </a:endParaRPr>
            </a:p>
          </p:txBody>
        </p:sp>
      </p:grpSp>
      <p:grpSp>
        <p:nvGrpSpPr>
          <p:cNvPr id="29" name="Group 29"/>
          <p:cNvGrpSpPr/>
          <p:nvPr/>
        </p:nvGrpSpPr>
        <p:grpSpPr>
          <a:xfrm rot="18567251">
            <a:off x="4886269" y="2694467"/>
            <a:ext cx="1894055" cy="965597"/>
            <a:chOff x="0" y="0"/>
            <a:chExt cx="647700" cy="330200"/>
          </a:xfrm>
        </p:grpSpPr>
        <p:sp>
          <p:nvSpPr>
            <p:cNvPr id="30" name="Freeform 30"/>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solidFill>
              <a:srgbClr val="AD94EA"/>
            </a:solidFill>
          </p:spPr>
        </p:sp>
        <p:sp>
          <p:nvSpPr>
            <p:cNvPr id="31" name="TextBox 31"/>
            <p:cNvSpPr txBox="1"/>
            <p:nvPr/>
          </p:nvSpPr>
          <p:spPr>
            <a:xfrm>
              <a:off x="152400" y="12700"/>
              <a:ext cx="342900" cy="317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sp>
        <p:nvSpPr>
          <p:cNvPr id="32" name="Freeform 32"/>
          <p:cNvSpPr/>
          <p:nvPr/>
        </p:nvSpPr>
        <p:spPr>
          <a:xfrm>
            <a:off x="702327" y="1281007"/>
            <a:ext cx="10803873" cy="1044103"/>
          </a:xfrm>
          <a:custGeom>
            <a:avLst/>
            <a:gdLst/>
            <a:ahLst/>
            <a:cxnLst/>
            <a:rect l="l" t="t" r="r" b="b"/>
            <a:pathLst>
              <a:path w="16205810" h="1566155">
                <a:moveTo>
                  <a:pt x="978370" y="0"/>
                </a:moveTo>
                <a:lnTo>
                  <a:pt x="228600" y="0"/>
                </a:lnTo>
                <a:cubicBezTo>
                  <a:pt x="102348" y="0"/>
                  <a:pt x="0" y="102348"/>
                  <a:pt x="0" y="228600"/>
                </a:cubicBezTo>
                <a:lnTo>
                  <a:pt x="0" y="1337556"/>
                </a:lnTo>
                <a:cubicBezTo>
                  <a:pt x="0" y="1463808"/>
                  <a:pt x="102348" y="1566156"/>
                  <a:pt x="228600" y="1566156"/>
                </a:cubicBezTo>
                <a:lnTo>
                  <a:pt x="16205810" y="1566156"/>
                </a:lnTo>
              </a:path>
            </a:pathLst>
          </a:custGeom>
          <a:ln w="38100" cap="flat">
            <a:solidFill>
              <a:srgbClr val="8E93A9"/>
            </a:solidFill>
            <a:prstDash val="sysDash"/>
            <a:headEnd type="none" w="sm" len="sm"/>
            <a:tailEnd type="none" w="sm" len="sm"/>
          </a:ln>
        </p:spPr>
      </p:sp>
      <p:grpSp>
        <p:nvGrpSpPr>
          <p:cNvPr id="33" name="Group 33"/>
          <p:cNvGrpSpPr/>
          <p:nvPr/>
        </p:nvGrpSpPr>
        <p:grpSpPr>
          <a:xfrm>
            <a:off x="874221" y="886294"/>
            <a:ext cx="2269778" cy="638030"/>
            <a:chOff x="0" y="0"/>
            <a:chExt cx="896702" cy="252061"/>
          </a:xfrm>
        </p:grpSpPr>
        <p:sp>
          <p:nvSpPr>
            <p:cNvPr id="34" name="Freeform 34"/>
            <p:cNvSpPr/>
            <p:nvPr/>
          </p:nvSpPr>
          <p:spPr>
            <a:xfrm>
              <a:off x="0" y="0"/>
              <a:ext cx="896702" cy="252061"/>
            </a:xfrm>
            <a:custGeom>
              <a:avLst/>
              <a:gdLst/>
              <a:ahLst/>
              <a:cxnLst/>
              <a:rect l="l" t="t" r="r" b="b"/>
              <a:pathLst>
                <a:path w="896702" h="252061">
                  <a:moveTo>
                    <a:pt x="43204" y="0"/>
                  </a:moveTo>
                  <a:lnTo>
                    <a:pt x="853498" y="0"/>
                  </a:lnTo>
                  <a:cubicBezTo>
                    <a:pt x="877359" y="0"/>
                    <a:pt x="896702" y="19343"/>
                    <a:pt x="896702" y="43204"/>
                  </a:cubicBezTo>
                  <a:lnTo>
                    <a:pt x="896702" y="208857"/>
                  </a:lnTo>
                  <a:cubicBezTo>
                    <a:pt x="896702" y="232718"/>
                    <a:pt x="877359" y="252061"/>
                    <a:pt x="853498" y="252061"/>
                  </a:cubicBezTo>
                  <a:lnTo>
                    <a:pt x="43204" y="252061"/>
                  </a:lnTo>
                  <a:cubicBezTo>
                    <a:pt x="19343" y="252061"/>
                    <a:pt x="0" y="232718"/>
                    <a:pt x="0" y="208857"/>
                  </a:cubicBezTo>
                  <a:lnTo>
                    <a:pt x="0" y="43204"/>
                  </a:lnTo>
                  <a:cubicBezTo>
                    <a:pt x="0" y="19343"/>
                    <a:pt x="19343" y="0"/>
                    <a:pt x="43204" y="0"/>
                  </a:cubicBezTo>
                  <a:close/>
                </a:path>
              </a:pathLst>
            </a:custGeom>
            <a:solidFill>
              <a:srgbClr val="AD94EA"/>
            </a:solidFill>
          </p:spPr>
        </p:sp>
        <p:sp>
          <p:nvSpPr>
            <p:cNvPr id="35" name="TextBox 35"/>
            <p:cNvSpPr txBox="1"/>
            <p:nvPr/>
          </p:nvSpPr>
          <p:spPr>
            <a:xfrm>
              <a:off x="0" y="-38100"/>
              <a:ext cx="896702" cy="290161"/>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773"/>
                </a:lnSpc>
              </a:pPr>
              <a:endParaRPr sz="800"/>
            </a:p>
          </p:txBody>
        </p:sp>
      </p:grpSp>
      <p:sp>
        <p:nvSpPr>
          <p:cNvPr id="36" name="TextBox 36"/>
          <p:cNvSpPr txBox="1"/>
          <p:nvPr/>
        </p:nvSpPr>
        <p:spPr>
          <a:xfrm>
            <a:off x="565942" y="253566"/>
            <a:ext cx="4962776" cy="47009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920"/>
              </a:lnSpc>
              <a:spcBef>
                <a:spcPct val="0"/>
              </a:spcBef>
            </a:pPr>
            <a:r>
              <a:rPr lang="en-US" sz="2800" b="1">
                <a:solidFill>
                  <a:srgbClr val="7030A0"/>
                </a:solidFill>
                <a:latin typeface="Calibri"/>
                <a:ea typeface="Calibri"/>
                <a:cs typeface="Calibri"/>
                <a:sym typeface="Helvetica World Bold"/>
              </a:rPr>
              <a:t>Design Opportunity &amp; Audience</a:t>
            </a:r>
            <a:endParaRPr lang="en-US" sz="2800" b="1">
              <a:solidFill>
                <a:srgbClr val="7030A0"/>
              </a:solidFill>
              <a:latin typeface="Calibri"/>
              <a:ea typeface="Calibri"/>
              <a:cs typeface="Calibri"/>
            </a:endParaRPr>
          </a:p>
        </p:txBody>
      </p:sp>
      <p:sp>
        <p:nvSpPr>
          <p:cNvPr id="37" name="TextBox 37"/>
          <p:cNvSpPr txBox="1"/>
          <p:nvPr/>
        </p:nvSpPr>
        <p:spPr>
          <a:xfrm>
            <a:off x="1330509" y="5117190"/>
            <a:ext cx="1357202"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19"/>
              </a:lnSpc>
            </a:pPr>
            <a:r>
              <a:rPr lang="en-US" sz="1600" b="1">
                <a:solidFill>
                  <a:srgbClr val="000000"/>
                </a:solidFill>
                <a:latin typeface="Helvetica World Bold"/>
                <a:ea typeface="Helvetica World Bold"/>
                <a:cs typeface="Helvetica World Bold"/>
                <a:sym typeface="Helvetica World Bold"/>
              </a:rPr>
              <a:t>Predictability</a:t>
            </a:r>
          </a:p>
        </p:txBody>
      </p:sp>
      <p:sp>
        <p:nvSpPr>
          <p:cNvPr id="38" name="TextBox 38"/>
          <p:cNvSpPr txBox="1"/>
          <p:nvPr/>
        </p:nvSpPr>
        <p:spPr>
          <a:xfrm>
            <a:off x="5519158" y="5117190"/>
            <a:ext cx="1153684"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19"/>
              </a:lnSpc>
            </a:pPr>
            <a:r>
              <a:rPr lang="en-US" sz="1600" b="1">
                <a:solidFill>
                  <a:srgbClr val="000000"/>
                </a:solidFill>
                <a:latin typeface="Helvetica World Bold"/>
                <a:ea typeface="Helvetica World Bold"/>
                <a:cs typeface="Helvetica World Bold"/>
                <a:sym typeface="Helvetica World Bold"/>
              </a:rPr>
              <a:t>Autonomy</a:t>
            </a:r>
          </a:p>
        </p:txBody>
      </p:sp>
      <p:sp>
        <p:nvSpPr>
          <p:cNvPr id="39" name="TextBox 39"/>
          <p:cNvSpPr txBox="1"/>
          <p:nvPr/>
        </p:nvSpPr>
        <p:spPr>
          <a:xfrm>
            <a:off x="1193590" y="5638176"/>
            <a:ext cx="1632521" cy="74424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99"/>
              </a:lnSpc>
            </a:pPr>
            <a:r>
              <a:rPr lang="en-US" sz="1333">
                <a:solidFill>
                  <a:srgbClr val="000000"/>
                </a:solidFill>
                <a:latin typeface="Helvetica World"/>
                <a:ea typeface="Helvetica World"/>
                <a:cs typeface="Helvetica World"/>
                <a:sym typeface="Helvetica World"/>
              </a:rPr>
              <a:t>Know who you may work with before the first tutorial.​</a:t>
            </a:r>
          </a:p>
        </p:txBody>
      </p:sp>
      <p:sp>
        <p:nvSpPr>
          <p:cNvPr id="40" name="TextBox 40"/>
          <p:cNvSpPr txBox="1"/>
          <p:nvPr/>
        </p:nvSpPr>
        <p:spPr>
          <a:xfrm>
            <a:off x="5286424" y="5663838"/>
            <a:ext cx="1632521" cy="74424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99"/>
              </a:lnSpc>
            </a:pPr>
            <a:r>
              <a:rPr lang="en-US" sz="1333">
                <a:solidFill>
                  <a:srgbClr val="000000"/>
                </a:solidFill>
                <a:latin typeface="Helvetica World"/>
                <a:ea typeface="Helvetica World"/>
                <a:cs typeface="Helvetica World"/>
                <a:sym typeface="Helvetica World"/>
              </a:rPr>
              <a:t>Have some control over who you form a group with.</a:t>
            </a:r>
          </a:p>
        </p:txBody>
      </p:sp>
      <p:sp>
        <p:nvSpPr>
          <p:cNvPr id="41" name="TextBox 41"/>
          <p:cNvSpPr txBox="1"/>
          <p:nvPr/>
        </p:nvSpPr>
        <p:spPr>
          <a:xfrm>
            <a:off x="9417277" y="4995392"/>
            <a:ext cx="1428734" cy="48731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19"/>
              </a:lnSpc>
            </a:pPr>
            <a:r>
              <a:rPr lang="en-US" sz="1600" b="1">
                <a:solidFill>
                  <a:srgbClr val="000000"/>
                </a:solidFill>
                <a:latin typeface="Helvetica World Bold"/>
                <a:ea typeface="Helvetica World Bold"/>
                <a:cs typeface="Helvetica World Bold"/>
                <a:sym typeface="Helvetica World Bold"/>
              </a:rPr>
              <a:t>Gradual self-disclosure</a:t>
            </a:r>
          </a:p>
        </p:txBody>
      </p:sp>
      <p:sp>
        <p:nvSpPr>
          <p:cNvPr id="42" name="TextBox 42"/>
          <p:cNvSpPr txBox="1"/>
          <p:nvPr/>
        </p:nvSpPr>
        <p:spPr>
          <a:xfrm>
            <a:off x="9318726" y="5714527"/>
            <a:ext cx="1632521" cy="74424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99"/>
              </a:lnSpc>
            </a:pPr>
            <a:r>
              <a:rPr lang="en-US" sz="1333">
                <a:solidFill>
                  <a:srgbClr val="000000"/>
                </a:solidFill>
                <a:latin typeface="Helvetica World"/>
                <a:ea typeface="Helvetica World"/>
                <a:cs typeface="Helvetica World"/>
                <a:sym typeface="Helvetica World"/>
              </a:rPr>
              <a:t>Reveal identity progressively rather than all at once.​​</a:t>
            </a:r>
          </a:p>
        </p:txBody>
      </p:sp>
      <p:sp>
        <p:nvSpPr>
          <p:cNvPr id="43" name="TextBox 43"/>
          <p:cNvSpPr txBox="1"/>
          <p:nvPr/>
        </p:nvSpPr>
        <p:spPr>
          <a:xfrm>
            <a:off x="2282638" y="3008348"/>
            <a:ext cx="1705821"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19"/>
              </a:lnSpc>
            </a:pPr>
            <a:r>
              <a:rPr lang="en-US" sz="1800" b="1">
                <a:solidFill>
                  <a:srgbClr val="000000"/>
                </a:solidFill>
                <a:latin typeface="Calibri"/>
                <a:ea typeface="Calibri"/>
                <a:cs typeface="Calibri"/>
                <a:sym typeface="Helvetica World Bold"/>
              </a:rPr>
              <a:t>Target Audience:</a:t>
            </a:r>
            <a:r>
              <a:rPr lang="en-US" sz="1600" b="1">
                <a:solidFill>
                  <a:srgbClr val="000000"/>
                </a:solidFill>
                <a:latin typeface="Helvetica World Bold"/>
                <a:ea typeface="Helvetica World Bold"/>
                <a:cs typeface="Helvetica World Bold"/>
                <a:sym typeface="Helvetica World Bold"/>
              </a:rPr>
              <a:t>​</a:t>
            </a:r>
          </a:p>
        </p:txBody>
      </p:sp>
      <p:sp>
        <p:nvSpPr>
          <p:cNvPr id="44" name="TextBox 44"/>
          <p:cNvSpPr txBox="1"/>
          <p:nvPr/>
        </p:nvSpPr>
        <p:spPr>
          <a:xfrm>
            <a:off x="6763742" y="3025852"/>
            <a:ext cx="3372089"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19"/>
              </a:lnSpc>
            </a:pPr>
            <a:r>
              <a:rPr lang="en-US" sz="1800" b="1">
                <a:solidFill>
                  <a:srgbClr val="000000"/>
                </a:solidFill>
                <a:latin typeface="Calibri"/>
                <a:ea typeface="Calibri"/>
                <a:cs typeface="Calibri"/>
                <a:sym typeface="Helvetica World Bold"/>
              </a:rPr>
              <a:t>Interview &amp; Observation Findings</a:t>
            </a:r>
            <a:r>
              <a:rPr lang="en-US" sz="1600" b="1">
                <a:solidFill>
                  <a:srgbClr val="000000"/>
                </a:solidFill>
                <a:latin typeface="Helvetica World Bold"/>
                <a:ea typeface="Helvetica World Bold"/>
                <a:cs typeface="Helvetica World Bold"/>
                <a:sym typeface="Helvetica World Bold"/>
              </a:rPr>
              <a:t> ​</a:t>
            </a:r>
          </a:p>
        </p:txBody>
      </p:sp>
      <p:sp>
        <p:nvSpPr>
          <p:cNvPr id="45" name="TextBox 45"/>
          <p:cNvSpPr txBox="1"/>
          <p:nvPr/>
        </p:nvSpPr>
        <p:spPr>
          <a:xfrm>
            <a:off x="2282638" y="3382108"/>
            <a:ext cx="3064201" cy="15136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99"/>
              </a:lnSpc>
            </a:pPr>
            <a:r>
              <a:rPr lang="en-US" sz="1600">
                <a:solidFill>
                  <a:srgbClr val="000000"/>
                </a:solidFill>
                <a:latin typeface="Calibri"/>
                <a:ea typeface="Calibri"/>
                <a:cs typeface="Calibri"/>
                <a:sym typeface="Helvetica World"/>
              </a:rPr>
              <a:t>Students in courses with group assessment​</a:t>
            </a:r>
            <a:endParaRPr lang="en-US" sz="1600">
              <a:solidFill>
                <a:srgbClr val="000000"/>
              </a:solidFill>
              <a:latin typeface="Calibri"/>
              <a:ea typeface="Calibri"/>
              <a:cs typeface="Calibri"/>
            </a:endParaRPr>
          </a:p>
          <a:p>
            <a:pPr marL="287655" lvl="1" indent="-143510" algn="l">
              <a:lnSpc>
                <a:spcPts val="1999"/>
              </a:lnSpc>
              <a:buFont typeface="Arial"/>
              <a:buChar char="•"/>
            </a:pPr>
            <a:r>
              <a:rPr lang="en-US" sz="1600">
                <a:solidFill>
                  <a:srgbClr val="000000"/>
                </a:solidFill>
                <a:latin typeface="Calibri"/>
                <a:ea typeface="Calibri"/>
                <a:cs typeface="Calibri"/>
                <a:sym typeface="Helvetica World"/>
              </a:rPr>
              <a:t>especially first-year​</a:t>
            </a:r>
            <a:endParaRPr lang="en-US" sz="1600">
              <a:solidFill>
                <a:srgbClr val="000000"/>
              </a:solidFill>
              <a:latin typeface="Calibri"/>
              <a:ea typeface="Calibri"/>
              <a:cs typeface="Calibri"/>
            </a:endParaRPr>
          </a:p>
          <a:p>
            <a:pPr marL="287655" lvl="1" indent="-143510" algn="l">
              <a:lnSpc>
                <a:spcPts val="1999"/>
              </a:lnSpc>
              <a:buFont typeface="Arial"/>
              <a:buChar char="•"/>
            </a:pPr>
            <a:r>
              <a:rPr lang="en-US" sz="1600">
                <a:solidFill>
                  <a:srgbClr val="000000"/>
                </a:solidFill>
                <a:latin typeface="Calibri"/>
                <a:ea typeface="Calibri"/>
                <a:cs typeface="Calibri"/>
                <a:sym typeface="Helvetica World"/>
              </a:rPr>
              <a:t>International students​</a:t>
            </a:r>
            <a:endParaRPr lang="en-US" sz="1600">
              <a:solidFill>
                <a:srgbClr val="000000"/>
              </a:solidFill>
              <a:latin typeface="Calibri"/>
              <a:ea typeface="Calibri"/>
              <a:cs typeface="Calibri"/>
            </a:endParaRPr>
          </a:p>
          <a:p>
            <a:pPr marL="287655" lvl="1" indent="-143510" algn="l">
              <a:lnSpc>
                <a:spcPts val="1999"/>
              </a:lnSpc>
              <a:buFont typeface="Arial"/>
              <a:buChar char="•"/>
            </a:pPr>
            <a:r>
              <a:rPr lang="en-US" sz="1600">
                <a:solidFill>
                  <a:srgbClr val="000000"/>
                </a:solidFill>
                <a:latin typeface="Calibri"/>
                <a:ea typeface="Calibri"/>
                <a:cs typeface="Calibri"/>
                <a:sym typeface="Helvetica World"/>
              </a:rPr>
              <a:t>Transferring students.​</a:t>
            </a:r>
            <a:endParaRPr lang="en-US" sz="1600">
              <a:solidFill>
                <a:srgbClr val="000000"/>
              </a:solidFill>
              <a:latin typeface="Calibri"/>
              <a:ea typeface="Calibri"/>
              <a:cs typeface="Calibri"/>
            </a:endParaRPr>
          </a:p>
          <a:p>
            <a:pPr algn="l">
              <a:lnSpc>
                <a:spcPts val="1999"/>
              </a:lnSpc>
            </a:pPr>
            <a:endParaRPr lang="en-US" sz="1333">
              <a:solidFill>
                <a:srgbClr val="000000"/>
              </a:solidFill>
              <a:latin typeface="Helvetica World"/>
              <a:ea typeface="Helvetica World"/>
              <a:cs typeface="Helvetica World"/>
              <a:sym typeface="Helvetica World"/>
            </a:endParaRPr>
          </a:p>
        </p:txBody>
      </p:sp>
      <p:sp>
        <p:nvSpPr>
          <p:cNvPr id="46" name="TextBox 46"/>
          <p:cNvSpPr txBox="1"/>
          <p:nvPr/>
        </p:nvSpPr>
        <p:spPr>
          <a:xfrm>
            <a:off x="6550391" y="3403956"/>
            <a:ext cx="4966178" cy="15136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87655" lvl="1" indent="-143510" algn="l">
              <a:lnSpc>
                <a:spcPts val="1999"/>
              </a:lnSpc>
              <a:buFont typeface="Arial"/>
              <a:buChar char="•"/>
            </a:pPr>
            <a:r>
              <a:rPr lang="en-US" sz="1600">
                <a:solidFill>
                  <a:srgbClr val="000000"/>
                </a:solidFill>
                <a:latin typeface="Calibri"/>
                <a:ea typeface="Calibri"/>
                <a:cs typeface="Calibri"/>
                <a:sym typeface="Helvetica World"/>
              </a:rPr>
              <a:t>Group formation can feel unstructured and unpredictable.​</a:t>
            </a:r>
            <a:endParaRPr lang="en-US" sz="1600">
              <a:solidFill>
                <a:srgbClr val="000000"/>
              </a:solidFill>
              <a:latin typeface="Calibri"/>
              <a:ea typeface="Calibri"/>
              <a:cs typeface="Calibri"/>
            </a:endParaRPr>
          </a:p>
          <a:p>
            <a:pPr marL="287655" lvl="1" indent="-143510" algn="l">
              <a:lnSpc>
                <a:spcPts val="1999"/>
              </a:lnSpc>
              <a:buFont typeface="Arial"/>
              <a:buChar char="•"/>
            </a:pPr>
            <a:r>
              <a:rPr lang="en-US" sz="1600">
                <a:solidFill>
                  <a:srgbClr val="000000"/>
                </a:solidFill>
                <a:latin typeface="Calibri"/>
                <a:ea typeface="Calibri"/>
                <a:cs typeface="Calibri"/>
                <a:sym typeface="Helvetica World"/>
              </a:rPr>
              <a:t>Existing relationships strongly shape group formation.​</a:t>
            </a:r>
            <a:endParaRPr lang="en-US" sz="1600">
              <a:solidFill>
                <a:srgbClr val="000000"/>
              </a:solidFill>
              <a:latin typeface="Calibri"/>
              <a:ea typeface="Calibri"/>
              <a:cs typeface="Calibri"/>
            </a:endParaRPr>
          </a:p>
          <a:p>
            <a:pPr marL="287655" lvl="1" indent="-143510" algn="l">
              <a:lnSpc>
                <a:spcPts val="1999"/>
              </a:lnSpc>
              <a:buFont typeface="Arial"/>
              <a:buChar char="•"/>
            </a:pPr>
            <a:r>
              <a:rPr lang="en-US" sz="1600">
                <a:solidFill>
                  <a:srgbClr val="000000"/>
                </a:solidFill>
                <a:latin typeface="Calibri"/>
                <a:ea typeface="Calibri"/>
                <a:cs typeface="Calibri"/>
                <a:sym typeface="Helvetica World"/>
              </a:rPr>
              <a:t>Students usually learn about their teammates' strengths and habits only after they begin working together.​</a:t>
            </a:r>
            <a:endParaRPr lang="en-US" sz="1600">
              <a:solidFill>
                <a:srgbClr val="000000"/>
              </a:solidFill>
              <a:latin typeface="Calibri"/>
              <a:ea typeface="Calibri"/>
              <a:cs typeface="Calibri"/>
            </a:endParaRPr>
          </a:p>
          <a:p>
            <a:pPr algn="l">
              <a:lnSpc>
                <a:spcPts val="1999"/>
              </a:lnSpc>
            </a:pPr>
            <a:endParaRPr lang="en-US" sz="1333">
              <a:solidFill>
                <a:srgbClr val="000000"/>
              </a:solidFill>
              <a:latin typeface="Helvetica World"/>
              <a:ea typeface="Helvetica World"/>
              <a:cs typeface="Helvetica World"/>
              <a:sym typeface="Helvetica World"/>
            </a:endParaRPr>
          </a:p>
        </p:txBody>
      </p:sp>
      <p:sp>
        <p:nvSpPr>
          <p:cNvPr id="47" name="TextBox 47"/>
          <p:cNvSpPr txBox="1"/>
          <p:nvPr/>
        </p:nvSpPr>
        <p:spPr>
          <a:xfrm>
            <a:off x="1048629" y="1619573"/>
            <a:ext cx="10268139" cy="51296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99"/>
              </a:lnSpc>
            </a:pPr>
            <a:r>
              <a:rPr lang="en-US" sz="1800">
                <a:solidFill>
                  <a:srgbClr val="000000"/>
                </a:solidFill>
                <a:latin typeface="Calibri"/>
                <a:ea typeface="Calibri"/>
                <a:cs typeface="Calibri"/>
                <a:sym typeface="Helvetica World"/>
              </a:rPr>
              <a:t>How might we make early group formation more social through low-pressure, asynchronous introductions - while making it more contextual by tying it to the exact course and tutorial slot?​</a:t>
            </a:r>
            <a:endParaRPr lang="en-US" sz="1800">
              <a:solidFill>
                <a:srgbClr val="000000"/>
              </a:solidFill>
              <a:latin typeface="Calibri"/>
              <a:ea typeface="Calibri"/>
              <a:cs typeface="Calibri"/>
            </a:endParaRPr>
          </a:p>
        </p:txBody>
      </p:sp>
      <p:sp>
        <p:nvSpPr>
          <p:cNvPr id="48" name="TextBox 48"/>
          <p:cNvSpPr txBox="1"/>
          <p:nvPr/>
        </p:nvSpPr>
        <p:spPr>
          <a:xfrm>
            <a:off x="979628" y="1080425"/>
            <a:ext cx="2060445" cy="2436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19"/>
              </a:lnSpc>
            </a:pPr>
            <a:r>
              <a:rPr lang="en-US" sz="1800" b="1">
                <a:solidFill>
                  <a:srgbClr val="000000"/>
                </a:solidFill>
                <a:latin typeface="Calibri"/>
                <a:ea typeface="Calibri"/>
                <a:cs typeface="Calibri"/>
                <a:sym typeface="Helvetica World Bold"/>
              </a:rPr>
              <a:t>Design Opportunity</a:t>
            </a:r>
            <a:endParaRPr lang="en-US" sz="1800" b="1">
              <a:solidFill>
                <a:srgbClr val="000000"/>
              </a:solidFill>
              <a:latin typeface="Calibri"/>
              <a:ea typeface="Calibri"/>
              <a:cs typeface="Calibri"/>
            </a:endParaRPr>
          </a:p>
        </p:txBody>
      </p:sp>
      <p:pic>
        <p:nvPicPr>
          <p:cNvPr id="50" name="图片 49">
            <a:extLst>
              <a:ext uri="{FF2B5EF4-FFF2-40B4-BE49-F238E27FC236}">
                <a16:creationId xmlns:a16="http://schemas.microsoft.com/office/drawing/2014/main" id="{3B0FC98C-9831-5AA4-95B8-8FB62995D0BB}"/>
              </a:ext>
            </a:extLst>
          </p:cNvPr>
          <p:cNvPicPr>
            <a:picLocks noChangeAspect="1"/>
          </p:cNvPicPr>
          <p:nvPr/>
        </p:nvPicPr>
        <p:blipFill>
          <a:blip r:embed="rId3"/>
          <a:stretch>
            <a:fillRect/>
          </a:stretch>
        </p:blipFill>
        <p:spPr>
          <a:xfrm>
            <a:off x="5407526" y="2740527"/>
            <a:ext cx="855581" cy="842213"/>
          </a:xfrm>
          <a:prstGeom prst="rect">
            <a:avLst/>
          </a:prstGeom>
        </p:spPr>
      </p:pic>
      <p:pic>
        <p:nvPicPr>
          <p:cNvPr id="51" name="图片 50">
            <a:extLst>
              <a:ext uri="{FF2B5EF4-FFF2-40B4-BE49-F238E27FC236}">
                <a16:creationId xmlns:a16="http://schemas.microsoft.com/office/drawing/2014/main" id="{DF070153-B5D6-3D90-1268-3D5C5DC08B87}"/>
              </a:ext>
            </a:extLst>
          </p:cNvPr>
          <p:cNvPicPr>
            <a:picLocks noChangeAspect="1"/>
          </p:cNvPicPr>
          <p:nvPr/>
        </p:nvPicPr>
        <p:blipFill>
          <a:blip r:embed="rId4"/>
          <a:stretch>
            <a:fillRect/>
          </a:stretch>
        </p:blipFill>
        <p:spPr>
          <a:xfrm>
            <a:off x="835525" y="2693737"/>
            <a:ext cx="889002" cy="9424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4646" y="3935374"/>
            <a:ext cx="2819005" cy="2245278"/>
            <a:chOff x="0" y="0"/>
            <a:chExt cx="1113681" cy="887023"/>
          </a:xfrm>
        </p:grpSpPr>
        <p:sp>
          <p:nvSpPr>
            <p:cNvPr id="3" name="Freeform 3"/>
            <p:cNvSpPr/>
            <p:nvPr/>
          </p:nvSpPr>
          <p:spPr>
            <a:xfrm>
              <a:off x="0" y="0"/>
              <a:ext cx="1113681" cy="887023"/>
            </a:xfrm>
            <a:custGeom>
              <a:avLst/>
              <a:gdLst/>
              <a:ahLst/>
              <a:cxnLst/>
              <a:rect l="l" t="t" r="r" b="b"/>
              <a:pathLst>
                <a:path w="1113681" h="887023">
                  <a:moveTo>
                    <a:pt x="51265" y="0"/>
                  </a:moveTo>
                  <a:lnTo>
                    <a:pt x="1062416" y="0"/>
                  </a:lnTo>
                  <a:cubicBezTo>
                    <a:pt x="1076013" y="0"/>
                    <a:pt x="1089052" y="5401"/>
                    <a:pt x="1098666" y="15015"/>
                  </a:cubicBezTo>
                  <a:cubicBezTo>
                    <a:pt x="1108280" y="24629"/>
                    <a:pt x="1113681" y="37669"/>
                    <a:pt x="1113681" y="51265"/>
                  </a:cubicBezTo>
                  <a:lnTo>
                    <a:pt x="1113681" y="835759"/>
                  </a:lnTo>
                  <a:cubicBezTo>
                    <a:pt x="1113681" y="864071"/>
                    <a:pt x="1090729" y="887023"/>
                    <a:pt x="1062416" y="887023"/>
                  </a:cubicBezTo>
                  <a:lnTo>
                    <a:pt x="51265" y="887023"/>
                  </a:lnTo>
                  <a:cubicBezTo>
                    <a:pt x="22952" y="887023"/>
                    <a:pt x="0" y="864071"/>
                    <a:pt x="0" y="835759"/>
                  </a:cubicBezTo>
                  <a:lnTo>
                    <a:pt x="0" y="51265"/>
                  </a:lnTo>
                  <a:cubicBezTo>
                    <a:pt x="0" y="22952"/>
                    <a:pt x="22952" y="0"/>
                    <a:pt x="51265" y="0"/>
                  </a:cubicBezTo>
                  <a:close/>
                </a:path>
              </a:pathLst>
            </a:custGeom>
            <a:solidFill>
              <a:srgbClr val="F4F4F4"/>
            </a:solidFill>
            <a:ln w="66675" cap="rnd">
              <a:solidFill>
                <a:srgbClr val="AD94EA"/>
              </a:solidFill>
              <a:prstDash val="solid"/>
              <a:round/>
            </a:ln>
          </p:spPr>
        </p:sp>
        <p:sp>
          <p:nvSpPr>
            <p:cNvPr id="4" name="TextBox 4"/>
            <p:cNvSpPr txBox="1"/>
            <p:nvPr/>
          </p:nvSpPr>
          <p:spPr>
            <a:xfrm>
              <a:off x="0" y="-9525"/>
              <a:ext cx="1113681" cy="896548"/>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5" name="Group 5"/>
          <p:cNvGrpSpPr/>
          <p:nvPr/>
        </p:nvGrpSpPr>
        <p:grpSpPr>
          <a:xfrm>
            <a:off x="4766836" y="3898162"/>
            <a:ext cx="2912583" cy="2245278"/>
            <a:chOff x="0" y="0"/>
            <a:chExt cx="1113681" cy="887023"/>
          </a:xfrm>
        </p:grpSpPr>
        <p:sp>
          <p:nvSpPr>
            <p:cNvPr id="6" name="Freeform 6"/>
            <p:cNvSpPr/>
            <p:nvPr/>
          </p:nvSpPr>
          <p:spPr>
            <a:xfrm>
              <a:off x="0" y="0"/>
              <a:ext cx="1113681" cy="887023"/>
            </a:xfrm>
            <a:custGeom>
              <a:avLst/>
              <a:gdLst/>
              <a:ahLst/>
              <a:cxnLst/>
              <a:rect l="l" t="t" r="r" b="b"/>
              <a:pathLst>
                <a:path w="1113681" h="887023">
                  <a:moveTo>
                    <a:pt x="51265" y="0"/>
                  </a:moveTo>
                  <a:lnTo>
                    <a:pt x="1062416" y="0"/>
                  </a:lnTo>
                  <a:cubicBezTo>
                    <a:pt x="1076013" y="0"/>
                    <a:pt x="1089052" y="5401"/>
                    <a:pt x="1098666" y="15015"/>
                  </a:cubicBezTo>
                  <a:cubicBezTo>
                    <a:pt x="1108280" y="24629"/>
                    <a:pt x="1113681" y="37669"/>
                    <a:pt x="1113681" y="51265"/>
                  </a:cubicBezTo>
                  <a:lnTo>
                    <a:pt x="1113681" y="835759"/>
                  </a:lnTo>
                  <a:cubicBezTo>
                    <a:pt x="1113681" y="864071"/>
                    <a:pt x="1090729" y="887023"/>
                    <a:pt x="1062416" y="887023"/>
                  </a:cubicBezTo>
                  <a:lnTo>
                    <a:pt x="51265" y="887023"/>
                  </a:lnTo>
                  <a:cubicBezTo>
                    <a:pt x="22952" y="887023"/>
                    <a:pt x="0" y="864071"/>
                    <a:pt x="0" y="835759"/>
                  </a:cubicBezTo>
                  <a:lnTo>
                    <a:pt x="0" y="51265"/>
                  </a:lnTo>
                  <a:cubicBezTo>
                    <a:pt x="0" y="22952"/>
                    <a:pt x="22952" y="0"/>
                    <a:pt x="51265" y="0"/>
                  </a:cubicBezTo>
                  <a:close/>
                </a:path>
              </a:pathLst>
            </a:custGeom>
            <a:solidFill>
              <a:srgbClr val="F4F4F4"/>
            </a:solidFill>
            <a:ln w="66675" cap="rnd">
              <a:solidFill>
                <a:srgbClr val="AD94EA"/>
              </a:solidFill>
              <a:prstDash val="solid"/>
              <a:round/>
            </a:ln>
          </p:spPr>
        </p:sp>
        <p:sp>
          <p:nvSpPr>
            <p:cNvPr id="7" name="TextBox 7"/>
            <p:cNvSpPr txBox="1"/>
            <p:nvPr/>
          </p:nvSpPr>
          <p:spPr>
            <a:xfrm>
              <a:off x="0" y="-9525"/>
              <a:ext cx="1113681" cy="896548"/>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8" name="Group 8"/>
          <p:cNvGrpSpPr/>
          <p:nvPr/>
        </p:nvGrpSpPr>
        <p:grpSpPr>
          <a:xfrm>
            <a:off x="1301323" y="3610635"/>
            <a:ext cx="2058263" cy="649517"/>
            <a:chOff x="0" y="0"/>
            <a:chExt cx="813141" cy="256599"/>
          </a:xfrm>
        </p:grpSpPr>
        <p:sp>
          <p:nvSpPr>
            <p:cNvPr id="9" name="Freeform 9"/>
            <p:cNvSpPr/>
            <p:nvPr/>
          </p:nvSpPr>
          <p:spPr>
            <a:xfrm>
              <a:off x="0" y="0"/>
              <a:ext cx="813141" cy="256599"/>
            </a:xfrm>
            <a:custGeom>
              <a:avLst/>
              <a:gdLst/>
              <a:ahLst/>
              <a:cxnLst/>
              <a:rect l="l" t="t" r="r" b="b"/>
              <a:pathLst>
                <a:path w="813141" h="256599">
                  <a:moveTo>
                    <a:pt x="70213" y="0"/>
                  </a:moveTo>
                  <a:lnTo>
                    <a:pt x="742928" y="0"/>
                  </a:lnTo>
                  <a:cubicBezTo>
                    <a:pt x="761550" y="0"/>
                    <a:pt x="779409" y="7397"/>
                    <a:pt x="792576" y="20565"/>
                  </a:cubicBezTo>
                  <a:cubicBezTo>
                    <a:pt x="805744" y="33732"/>
                    <a:pt x="813141" y="51591"/>
                    <a:pt x="813141" y="70213"/>
                  </a:cubicBezTo>
                  <a:lnTo>
                    <a:pt x="813141" y="186387"/>
                  </a:lnTo>
                  <a:cubicBezTo>
                    <a:pt x="813141" y="225164"/>
                    <a:pt x="781706" y="256599"/>
                    <a:pt x="742928" y="256599"/>
                  </a:cubicBezTo>
                  <a:lnTo>
                    <a:pt x="70213" y="256599"/>
                  </a:lnTo>
                  <a:cubicBezTo>
                    <a:pt x="51591" y="256599"/>
                    <a:pt x="33732" y="249202"/>
                    <a:pt x="20565" y="236034"/>
                  </a:cubicBezTo>
                  <a:cubicBezTo>
                    <a:pt x="7397" y="222867"/>
                    <a:pt x="0" y="205008"/>
                    <a:pt x="0" y="186387"/>
                  </a:cubicBezTo>
                  <a:lnTo>
                    <a:pt x="0" y="70213"/>
                  </a:lnTo>
                  <a:cubicBezTo>
                    <a:pt x="0" y="51591"/>
                    <a:pt x="7397" y="33732"/>
                    <a:pt x="20565" y="20565"/>
                  </a:cubicBezTo>
                  <a:cubicBezTo>
                    <a:pt x="33732" y="7397"/>
                    <a:pt x="51591" y="0"/>
                    <a:pt x="70213" y="0"/>
                  </a:cubicBezTo>
                  <a:close/>
                </a:path>
              </a:pathLst>
            </a:custGeom>
            <a:solidFill>
              <a:srgbClr val="AD94EA"/>
            </a:solidFill>
            <a:ln w="66675" cap="rnd">
              <a:solidFill>
                <a:srgbClr val="AD94EA"/>
              </a:solidFill>
              <a:prstDash val="solid"/>
              <a:round/>
            </a:ln>
          </p:spPr>
        </p:sp>
        <p:sp>
          <p:nvSpPr>
            <p:cNvPr id="10" name="TextBox 10"/>
            <p:cNvSpPr txBox="1"/>
            <p:nvPr/>
          </p:nvSpPr>
          <p:spPr>
            <a:xfrm>
              <a:off x="0" y="-9525"/>
              <a:ext cx="813141" cy="266124"/>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11" name="Group 11"/>
          <p:cNvGrpSpPr/>
          <p:nvPr/>
        </p:nvGrpSpPr>
        <p:grpSpPr>
          <a:xfrm>
            <a:off x="5132443" y="3610591"/>
            <a:ext cx="2058263" cy="649517"/>
            <a:chOff x="0" y="0"/>
            <a:chExt cx="813141" cy="256599"/>
          </a:xfrm>
        </p:grpSpPr>
        <p:sp>
          <p:nvSpPr>
            <p:cNvPr id="12" name="Freeform 12"/>
            <p:cNvSpPr/>
            <p:nvPr/>
          </p:nvSpPr>
          <p:spPr>
            <a:xfrm>
              <a:off x="0" y="0"/>
              <a:ext cx="813141" cy="256599"/>
            </a:xfrm>
            <a:custGeom>
              <a:avLst/>
              <a:gdLst/>
              <a:ahLst/>
              <a:cxnLst/>
              <a:rect l="l" t="t" r="r" b="b"/>
              <a:pathLst>
                <a:path w="813141" h="256599">
                  <a:moveTo>
                    <a:pt x="70213" y="0"/>
                  </a:moveTo>
                  <a:lnTo>
                    <a:pt x="742928" y="0"/>
                  </a:lnTo>
                  <a:cubicBezTo>
                    <a:pt x="761550" y="0"/>
                    <a:pt x="779409" y="7397"/>
                    <a:pt x="792576" y="20565"/>
                  </a:cubicBezTo>
                  <a:cubicBezTo>
                    <a:pt x="805744" y="33732"/>
                    <a:pt x="813141" y="51591"/>
                    <a:pt x="813141" y="70213"/>
                  </a:cubicBezTo>
                  <a:lnTo>
                    <a:pt x="813141" y="186387"/>
                  </a:lnTo>
                  <a:cubicBezTo>
                    <a:pt x="813141" y="225164"/>
                    <a:pt x="781706" y="256599"/>
                    <a:pt x="742928" y="256599"/>
                  </a:cubicBezTo>
                  <a:lnTo>
                    <a:pt x="70213" y="256599"/>
                  </a:lnTo>
                  <a:cubicBezTo>
                    <a:pt x="51591" y="256599"/>
                    <a:pt x="33732" y="249202"/>
                    <a:pt x="20565" y="236034"/>
                  </a:cubicBezTo>
                  <a:cubicBezTo>
                    <a:pt x="7397" y="222867"/>
                    <a:pt x="0" y="205008"/>
                    <a:pt x="0" y="186387"/>
                  </a:cubicBezTo>
                  <a:lnTo>
                    <a:pt x="0" y="70213"/>
                  </a:lnTo>
                  <a:cubicBezTo>
                    <a:pt x="0" y="51591"/>
                    <a:pt x="7397" y="33732"/>
                    <a:pt x="20565" y="20565"/>
                  </a:cubicBezTo>
                  <a:cubicBezTo>
                    <a:pt x="33732" y="7397"/>
                    <a:pt x="51591" y="0"/>
                    <a:pt x="70213" y="0"/>
                  </a:cubicBezTo>
                  <a:close/>
                </a:path>
              </a:pathLst>
            </a:custGeom>
            <a:solidFill>
              <a:srgbClr val="AD94EA"/>
            </a:solidFill>
            <a:ln w="66675" cap="rnd">
              <a:solidFill>
                <a:srgbClr val="AD94EA"/>
              </a:solidFill>
              <a:prstDash val="solid"/>
              <a:round/>
            </a:ln>
          </p:spPr>
        </p:sp>
        <p:sp>
          <p:nvSpPr>
            <p:cNvPr id="13" name="TextBox 13"/>
            <p:cNvSpPr txBox="1"/>
            <p:nvPr/>
          </p:nvSpPr>
          <p:spPr>
            <a:xfrm>
              <a:off x="0" y="-9525"/>
              <a:ext cx="813141" cy="266124"/>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14" name="Group 14"/>
          <p:cNvGrpSpPr/>
          <p:nvPr/>
        </p:nvGrpSpPr>
        <p:grpSpPr>
          <a:xfrm>
            <a:off x="8478766" y="3935394"/>
            <a:ext cx="2819005" cy="2245278"/>
            <a:chOff x="0" y="0"/>
            <a:chExt cx="1113681" cy="887023"/>
          </a:xfrm>
        </p:grpSpPr>
        <p:sp>
          <p:nvSpPr>
            <p:cNvPr id="15" name="Freeform 15"/>
            <p:cNvSpPr/>
            <p:nvPr/>
          </p:nvSpPr>
          <p:spPr>
            <a:xfrm>
              <a:off x="0" y="0"/>
              <a:ext cx="1113681" cy="887023"/>
            </a:xfrm>
            <a:custGeom>
              <a:avLst/>
              <a:gdLst/>
              <a:ahLst/>
              <a:cxnLst/>
              <a:rect l="l" t="t" r="r" b="b"/>
              <a:pathLst>
                <a:path w="1113681" h="887023">
                  <a:moveTo>
                    <a:pt x="51265" y="0"/>
                  </a:moveTo>
                  <a:lnTo>
                    <a:pt x="1062416" y="0"/>
                  </a:lnTo>
                  <a:cubicBezTo>
                    <a:pt x="1076013" y="0"/>
                    <a:pt x="1089052" y="5401"/>
                    <a:pt x="1098666" y="15015"/>
                  </a:cubicBezTo>
                  <a:cubicBezTo>
                    <a:pt x="1108280" y="24629"/>
                    <a:pt x="1113681" y="37669"/>
                    <a:pt x="1113681" y="51265"/>
                  </a:cubicBezTo>
                  <a:lnTo>
                    <a:pt x="1113681" y="835759"/>
                  </a:lnTo>
                  <a:cubicBezTo>
                    <a:pt x="1113681" y="864071"/>
                    <a:pt x="1090729" y="887023"/>
                    <a:pt x="1062416" y="887023"/>
                  </a:cubicBezTo>
                  <a:lnTo>
                    <a:pt x="51265" y="887023"/>
                  </a:lnTo>
                  <a:cubicBezTo>
                    <a:pt x="22952" y="887023"/>
                    <a:pt x="0" y="864071"/>
                    <a:pt x="0" y="835759"/>
                  </a:cubicBezTo>
                  <a:lnTo>
                    <a:pt x="0" y="51265"/>
                  </a:lnTo>
                  <a:cubicBezTo>
                    <a:pt x="0" y="22952"/>
                    <a:pt x="22952" y="0"/>
                    <a:pt x="51265" y="0"/>
                  </a:cubicBezTo>
                  <a:close/>
                </a:path>
              </a:pathLst>
            </a:custGeom>
            <a:solidFill>
              <a:srgbClr val="F4F4F4"/>
            </a:solidFill>
            <a:ln w="66675" cap="rnd">
              <a:solidFill>
                <a:srgbClr val="AD94EA"/>
              </a:solidFill>
              <a:prstDash val="solid"/>
              <a:round/>
            </a:ln>
          </p:spPr>
        </p:sp>
        <p:sp>
          <p:nvSpPr>
            <p:cNvPr id="16" name="TextBox 16"/>
            <p:cNvSpPr txBox="1"/>
            <p:nvPr/>
          </p:nvSpPr>
          <p:spPr>
            <a:xfrm>
              <a:off x="0" y="-9525"/>
              <a:ext cx="1113681" cy="896548"/>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17" name="Group 17"/>
          <p:cNvGrpSpPr/>
          <p:nvPr/>
        </p:nvGrpSpPr>
        <p:grpSpPr>
          <a:xfrm>
            <a:off x="8859137" y="3610635"/>
            <a:ext cx="2058263" cy="649517"/>
            <a:chOff x="0" y="0"/>
            <a:chExt cx="813141" cy="256599"/>
          </a:xfrm>
        </p:grpSpPr>
        <p:sp>
          <p:nvSpPr>
            <p:cNvPr id="18" name="Freeform 18"/>
            <p:cNvSpPr/>
            <p:nvPr/>
          </p:nvSpPr>
          <p:spPr>
            <a:xfrm>
              <a:off x="0" y="0"/>
              <a:ext cx="813141" cy="256599"/>
            </a:xfrm>
            <a:custGeom>
              <a:avLst/>
              <a:gdLst/>
              <a:ahLst/>
              <a:cxnLst/>
              <a:rect l="l" t="t" r="r" b="b"/>
              <a:pathLst>
                <a:path w="813141" h="256599">
                  <a:moveTo>
                    <a:pt x="70213" y="0"/>
                  </a:moveTo>
                  <a:lnTo>
                    <a:pt x="742928" y="0"/>
                  </a:lnTo>
                  <a:cubicBezTo>
                    <a:pt x="761550" y="0"/>
                    <a:pt x="779409" y="7397"/>
                    <a:pt x="792576" y="20565"/>
                  </a:cubicBezTo>
                  <a:cubicBezTo>
                    <a:pt x="805744" y="33732"/>
                    <a:pt x="813141" y="51591"/>
                    <a:pt x="813141" y="70213"/>
                  </a:cubicBezTo>
                  <a:lnTo>
                    <a:pt x="813141" y="186387"/>
                  </a:lnTo>
                  <a:cubicBezTo>
                    <a:pt x="813141" y="225164"/>
                    <a:pt x="781706" y="256599"/>
                    <a:pt x="742928" y="256599"/>
                  </a:cubicBezTo>
                  <a:lnTo>
                    <a:pt x="70213" y="256599"/>
                  </a:lnTo>
                  <a:cubicBezTo>
                    <a:pt x="51591" y="256599"/>
                    <a:pt x="33732" y="249202"/>
                    <a:pt x="20565" y="236034"/>
                  </a:cubicBezTo>
                  <a:cubicBezTo>
                    <a:pt x="7397" y="222867"/>
                    <a:pt x="0" y="205008"/>
                    <a:pt x="0" y="186387"/>
                  </a:cubicBezTo>
                  <a:lnTo>
                    <a:pt x="0" y="70213"/>
                  </a:lnTo>
                  <a:cubicBezTo>
                    <a:pt x="0" y="51591"/>
                    <a:pt x="7397" y="33732"/>
                    <a:pt x="20565" y="20565"/>
                  </a:cubicBezTo>
                  <a:cubicBezTo>
                    <a:pt x="33732" y="7397"/>
                    <a:pt x="51591" y="0"/>
                    <a:pt x="70213" y="0"/>
                  </a:cubicBezTo>
                  <a:close/>
                </a:path>
              </a:pathLst>
            </a:custGeom>
            <a:solidFill>
              <a:srgbClr val="AD94EA"/>
            </a:solidFill>
            <a:ln w="66675" cap="rnd">
              <a:solidFill>
                <a:srgbClr val="AD94EA"/>
              </a:solidFill>
              <a:prstDash val="solid"/>
              <a:round/>
            </a:ln>
          </p:spPr>
        </p:sp>
        <p:sp>
          <p:nvSpPr>
            <p:cNvPr id="19" name="TextBox 19"/>
            <p:cNvSpPr txBox="1"/>
            <p:nvPr/>
          </p:nvSpPr>
          <p:spPr>
            <a:xfrm>
              <a:off x="0" y="-9525"/>
              <a:ext cx="813141" cy="266124"/>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endParaRPr sz="800"/>
            </a:p>
          </p:txBody>
        </p:sp>
      </p:grpSp>
      <p:grpSp>
        <p:nvGrpSpPr>
          <p:cNvPr id="20" name="Group 20"/>
          <p:cNvGrpSpPr/>
          <p:nvPr/>
        </p:nvGrpSpPr>
        <p:grpSpPr>
          <a:xfrm>
            <a:off x="1911236" y="5720528"/>
            <a:ext cx="845825" cy="84582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p:spPr>
        </p:sp>
        <p:sp>
          <p:nvSpPr>
            <p:cNvPr id="22" name="TextBox 22"/>
            <p:cNvSpPr txBox="1"/>
            <p:nvPr/>
          </p:nvSpPr>
          <p:spPr>
            <a:xfrm>
              <a:off x="76200" y="9525"/>
              <a:ext cx="660400" cy="72707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20"/>
                </a:lnSpc>
              </a:pPr>
              <a:endParaRPr sz="800"/>
            </a:p>
          </p:txBody>
        </p:sp>
      </p:grpSp>
      <p:grpSp>
        <p:nvGrpSpPr>
          <p:cNvPr id="23" name="Group 23"/>
          <p:cNvGrpSpPr/>
          <p:nvPr/>
        </p:nvGrpSpPr>
        <p:grpSpPr>
          <a:xfrm>
            <a:off x="9465356" y="5720528"/>
            <a:ext cx="845825" cy="84582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p:spPr>
        </p:sp>
        <p:sp>
          <p:nvSpPr>
            <p:cNvPr id="25" name="TextBox 25"/>
            <p:cNvSpPr txBox="1"/>
            <p:nvPr/>
          </p:nvSpPr>
          <p:spPr>
            <a:xfrm>
              <a:off x="76200" y="9525"/>
              <a:ext cx="660400" cy="72707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20"/>
                </a:lnSpc>
              </a:pPr>
              <a:endParaRPr sz="800"/>
            </a:p>
          </p:txBody>
        </p:sp>
      </p:grpSp>
      <p:grpSp>
        <p:nvGrpSpPr>
          <p:cNvPr id="26" name="Group 26"/>
          <p:cNvGrpSpPr/>
          <p:nvPr/>
        </p:nvGrpSpPr>
        <p:grpSpPr>
          <a:xfrm>
            <a:off x="5766794" y="5720528"/>
            <a:ext cx="845825" cy="84582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p:spPr>
        </p:sp>
        <p:sp>
          <p:nvSpPr>
            <p:cNvPr id="28" name="TextBox 28"/>
            <p:cNvSpPr txBox="1"/>
            <p:nvPr/>
          </p:nvSpPr>
          <p:spPr>
            <a:xfrm>
              <a:off x="76200" y="9525"/>
              <a:ext cx="660400" cy="72707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920"/>
                </a:lnSpc>
              </a:pPr>
              <a:endParaRPr sz="800"/>
            </a:p>
          </p:txBody>
        </p:sp>
      </p:grpSp>
      <p:grpSp>
        <p:nvGrpSpPr>
          <p:cNvPr id="29" name="Group 29"/>
          <p:cNvGrpSpPr/>
          <p:nvPr/>
        </p:nvGrpSpPr>
        <p:grpSpPr>
          <a:xfrm>
            <a:off x="1023124" y="1631778"/>
            <a:ext cx="4451709" cy="1234189"/>
            <a:chOff x="0" y="0"/>
            <a:chExt cx="2172892" cy="611180"/>
          </a:xfrm>
        </p:grpSpPr>
        <p:sp>
          <p:nvSpPr>
            <p:cNvPr id="30" name="Freeform 30"/>
            <p:cNvSpPr/>
            <p:nvPr/>
          </p:nvSpPr>
          <p:spPr>
            <a:xfrm>
              <a:off x="0" y="0"/>
              <a:ext cx="2172892" cy="611180"/>
            </a:xfrm>
            <a:custGeom>
              <a:avLst/>
              <a:gdLst/>
              <a:ahLst/>
              <a:cxnLst/>
              <a:rect l="l" t="t" r="r" b="b"/>
              <a:pathLst>
                <a:path w="2172892" h="611180">
                  <a:moveTo>
                    <a:pt x="53817" y="0"/>
                  </a:moveTo>
                  <a:lnTo>
                    <a:pt x="2119075" y="0"/>
                  </a:lnTo>
                  <a:cubicBezTo>
                    <a:pt x="2133348" y="0"/>
                    <a:pt x="2147037" y="5670"/>
                    <a:pt x="2157130" y="15763"/>
                  </a:cubicBezTo>
                  <a:cubicBezTo>
                    <a:pt x="2167222" y="25855"/>
                    <a:pt x="2172892" y="39544"/>
                    <a:pt x="2172892" y="53817"/>
                  </a:cubicBezTo>
                  <a:lnTo>
                    <a:pt x="2172892" y="557363"/>
                  </a:lnTo>
                  <a:cubicBezTo>
                    <a:pt x="2172892" y="587085"/>
                    <a:pt x="2148798" y="611180"/>
                    <a:pt x="2119075" y="611180"/>
                  </a:cubicBezTo>
                  <a:lnTo>
                    <a:pt x="53817" y="611180"/>
                  </a:lnTo>
                  <a:cubicBezTo>
                    <a:pt x="39544" y="611180"/>
                    <a:pt x="25855" y="605510"/>
                    <a:pt x="15763" y="595417"/>
                  </a:cubicBezTo>
                  <a:cubicBezTo>
                    <a:pt x="5670" y="585324"/>
                    <a:pt x="0" y="571636"/>
                    <a:pt x="0" y="557363"/>
                  </a:cubicBezTo>
                  <a:lnTo>
                    <a:pt x="0" y="53817"/>
                  </a:lnTo>
                  <a:cubicBezTo>
                    <a:pt x="0" y="39544"/>
                    <a:pt x="5670" y="25855"/>
                    <a:pt x="15763" y="15763"/>
                  </a:cubicBezTo>
                  <a:cubicBezTo>
                    <a:pt x="25855" y="5670"/>
                    <a:pt x="39544" y="0"/>
                    <a:pt x="53817" y="0"/>
                  </a:cubicBezTo>
                  <a:close/>
                </a:path>
              </a:pathLst>
            </a:custGeom>
            <a:solidFill>
              <a:srgbClr val="AD94EA"/>
            </a:solidFill>
          </p:spPr>
        </p:sp>
        <p:sp>
          <p:nvSpPr>
            <p:cNvPr id="31" name="TextBox 31"/>
            <p:cNvSpPr txBox="1"/>
            <p:nvPr/>
          </p:nvSpPr>
          <p:spPr>
            <a:xfrm>
              <a:off x="0" y="-38100"/>
              <a:ext cx="2172892" cy="64928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grpSp>
        <p:nvGrpSpPr>
          <p:cNvPr id="32" name="Group 32"/>
          <p:cNvGrpSpPr/>
          <p:nvPr/>
        </p:nvGrpSpPr>
        <p:grpSpPr>
          <a:xfrm>
            <a:off x="6014577" y="1537052"/>
            <a:ext cx="5337267" cy="1500365"/>
            <a:chOff x="0" y="-38100"/>
            <a:chExt cx="2398361" cy="649280"/>
          </a:xfrm>
        </p:grpSpPr>
        <p:sp>
          <p:nvSpPr>
            <p:cNvPr id="33" name="Freeform 33"/>
            <p:cNvSpPr/>
            <p:nvPr/>
          </p:nvSpPr>
          <p:spPr>
            <a:xfrm>
              <a:off x="0" y="0"/>
              <a:ext cx="2398361" cy="611180"/>
            </a:xfrm>
            <a:custGeom>
              <a:avLst/>
              <a:gdLst/>
              <a:ahLst/>
              <a:cxnLst/>
              <a:rect l="l" t="t" r="r" b="b"/>
              <a:pathLst>
                <a:path w="2398361" h="611180">
                  <a:moveTo>
                    <a:pt x="48758" y="0"/>
                  </a:moveTo>
                  <a:lnTo>
                    <a:pt x="2349603" y="0"/>
                  </a:lnTo>
                  <a:cubicBezTo>
                    <a:pt x="2362534" y="0"/>
                    <a:pt x="2374936" y="5137"/>
                    <a:pt x="2384080" y="14281"/>
                  </a:cubicBezTo>
                  <a:cubicBezTo>
                    <a:pt x="2393224" y="23425"/>
                    <a:pt x="2398361" y="35826"/>
                    <a:pt x="2398361" y="48758"/>
                  </a:cubicBezTo>
                  <a:lnTo>
                    <a:pt x="2398361" y="562422"/>
                  </a:lnTo>
                  <a:cubicBezTo>
                    <a:pt x="2398361" y="589350"/>
                    <a:pt x="2376531" y="611180"/>
                    <a:pt x="2349603" y="611180"/>
                  </a:cubicBezTo>
                  <a:lnTo>
                    <a:pt x="48758" y="611180"/>
                  </a:lnTo>
                  <a:cubicBezTo>
                    <a:pt x="21830" y="611180"/>
                    <a:pt x="0" y="589350"/>
                    <a:pt x="0" y="562422"/>
                  </a:cubicBezTo>
                  <a:lnTo>
                    <a:pt x="0" y="48758"/>
                  </a:lnTo>
                  <a:cubicBezTo>
                    <a:pt x="0" y="21830"/>
                    <a:pt x="21830" y="0"/>
                    <a:pt x="48758" y="0"/>
                  </a:cubicBezTo>
                  <a:close/>
                </a:path>
              </a:pathLst>
            </a:custGeom>
            <a:solidFill>
              <a:srgbClr val="AD94EA"/>
            </a:solidFill>
          </p:spPr>
        </p:sp>
        <p:sp>
          <p:nvSpPr>
            <p:cNvPr id="34" name="TextBox 34"/>
            <p:cNvSpPr txBox="1"/>
            <p:nvPr/>
          </p:nvSpPr>
          <p:spPr>
            <a:xfrm>
              <a:off x="0" y="-38100"/>
              <a:ext cx="2398361" cy="64928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grpSp>
        <p:nvGrpSpPr>
          <p:cNvPr id="35" name="Group 35"/>
          <p:cNvGrpSpPr/>
          <p:nvPr/>
        </p:nvGrpSpPr>
        <p:grpSpPr>
          <a:xfrm>
            <a:off x="1131430" y="1271583"/>
            <a:ext cx="4330035" cy="1509087"/>
            <a:chOff x="0" y="0"/>
            <a:chExt cx="2132715" cy="743285"/>
          </a:xfrm>
        </p:grpSpPr>
        <p:sp>
          <p:nvSpPr>
            <p:cNvPr id="36" name="Freeform 36"/>
            <p:cNvSpPr/>
            <p:nvPr/>
          </p:nvSpPr>
          <p:spPr>
            <a:xfrm>
              <a:off x="0" y="0"/>
              <a:ext cx="2132715" cy="743285"/>
            </a:xfrm>
            <a:custGeom>
              <a:avLst/>
              <a:gdLst/>
              <a:ahLst/>
              <a:cxnLst/>
              <a:rect l="l" t="t" r="r" b="b"/>
              <a:pathLst>
                <a:path w="2132715" h="743285">
                  <a:moveTo>
                    <a:pt x="58407" y="0"/>
                  </a:moveTo>
                  <a:lnTo>
                    <a:pt x="2074309" y="0"/>
                  </a:lnTo>
                  <a:cubicBezTo>
                    <a:pt x="2106566" y="0"/>
                    <a:pt x="2132715" y="26150"/>
                    <a:pt x="2132715" y="58407"/>
                  </a:cubicBezTo>
                  <a:lnTo>
                    <a:pt x="2132715" y="684879"/>
                  </a:lnTo>
                  <a:cubicBezTo>
                    <a:pt x="2132715" y="717136"/>
                    <a:pt x="2106566" y="743285"/>
                    <a:pt x="2074309" y="743285"/>
                  </a:cubicBezTo>
                  <a:lnTo>
                    <a:pt x="58407" y="743285"/>
                  </a:lnTo>
                  <a:cubicBezTo>
                    <a:pt x="26150" y="743285"/>
                    <a:pt x="0" y="717136"/>
                    <a:pt x="0" y="684879"/>
                  </a:cubicBezTo>
                  <a:lnTo>
                    <a:pt x="0" y="58407"/>
                  </a:lnTo>
                  <a:cubicBezTo>
                    <a:pt x="0" y="26150"/>
                    <a:pt x="26150" y="0"/>
                    <a:pt x="58407" y="0"/>
                  </a:cubicBezTo>
                  <a:close/>
                </a:path>
              </a:pathLst>
            </a:custGeom>
            <a:solidFill>
              <a:srgbClr val="FFFFFF"/>
            </a:solidFill>
            <a:ln w="38100" cap="rnd">
              <a:solidFill>
                <a:srgbClr val="11221D"/>
              </a:solidFill>
              <a:prstDash val="solid"/>
              <a:round/>
            </a:ln>
          </p:spPr>
        </p:sp>
        <p:sp>
          <p:nvSpPr>
            <p:cNvPr id="37" name="TextBox 37"/>
            <p:cNvSpPr txBox="1"/>
            <p:nvPr/>
          </p:nvSpPr>
          <p:spPr>
            <a:xfrm>
              <a:off x="0" y="-38100"/>
              <a:ext cx="2132715" cy="781385"/>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grpSp>
        <p:nvGrpSpPr>
          <p:cNvPr id="38" name="Group 38"/>
          <p:cNvGrpSpPr/>
          <p:nvPr/>
        </p:nvGrpSpPr>
        <p:grpSpPr>
          <a:xfrm>
            <a:off x="6129926" y="1225504"/>
            <a:ext cx="5208551" cy="1755191"/>
            <a:chOff x="0" y="-38100"/>
            <a:chExt cx="2358008" cy="760788"/>
          </a:xfrm>
        </p:grpSpPr>
        <p:sp>
          <p:nvSpPr>
            <p:cNvPr id="39" name="Freeform 39"/>
            <p:cNvSpPr/>
            <p:nvPr/>
          </p:nvSpPr>
          <p:spPr>
            <a:xfrm>
              <a:off x="0" y="0"/>
              <a:ext cx="2358008" cy="722688"/>
            </a:xfrm>
            <a:custGeom>
              <a:avLst/>
              <a:gdLst/>
              <a:ahLst/>
              <a:cxnLst/>
              <a:rect l="l" t="t" r="r" b="b"/>
              <a:pathLst>
                <a:path w="2358008" h="722688">
                  <a:moveTo>
                    <a:pt x="52826" y="0"/>
                  </a:moveTo>
                  <a:lnTo>
                    <a:pt x="2305182" y="0"/>
                  </a:lnTo>
                  <a:cubicBezTo>
                    <a:pt x="2334357" y="0"/>
                    <a:pt x="2358008" y="23651"/>
                    <a:pt x="2358008" y="52826"/>
                  </a:cubicBezTo>
                  <a:lnTo>
                    <a:pt x="2358008" y="669861"/>
                  </a:lnTo>
                  <a:cubicBezTo>
                    <a:pt x="2358008" y="683872"/>
                    <a:pt x="2352443" y="697308"/>
                    <a:pt x="2342536" y="707215"/>
                  </a:cubicBezTo>
                  <a:cubicBezTo>
                    <a:pt x="2332629" y="717122"/>
                    <a:pt x="2319192" y="722688"/>
                    <a:pt x="2305182" y="722688"/>
                  </a:cubicBezTo>
                  <a:lnTo>
                    <a:pt x="52826" y="722688"/>
                  </a:lnTo>
                  <a:cubicBezTo>
                    <a:pt x="38816" y="722688"/>
                    <a:pt x="25379" y="717122"/>
                    <a:pt x="15472" y="707215"/>
                  </a:cubicBezTo>
                  <a:cubicBezTo>
                    <a:pt x="5566" y="697308"/>
                    <a:pt x="0" y="683872"/>
                    <a:pt x="0" y="669861"/>
                  </a:cubicBezTo>
                  <a:lnTo>
                    <a:pt x="0" y="52826"/>
                  </a:lnTo>
                  <a:cubicBezTo>
                    <a:pt x="0" y="38816"/>
                    <a:pt x="5566" y="25379"/>
                    <a:pt x="15472" y="15472"/>
                  </a:cubicBezTo>
                  <a:cubicBezTo>
                    <a:pt x="25379" y="5566"/>
                    <a:pt x="38816" y="0"/>
                    <a:pt x="52826" y="0"/>
                  </a:cubicBezTo>
                  <a:close/>
                </a:path>
              </a:pathLst>
            </a:custGeom>
            <a:solidFill>
              <a:srgbClr val="FFFFFF"/>
            </a:solidFill>
            <a:ln w="38100" cap="rnd">
              <a:solidFill>
                <a:srgbClr val="19443C"/>
              </a:solidFill>
              <a:prstDash val="solid"/>
              <a:round/>
            </a:ln>
          </p:spPr>
        </p:sp>
        <p:sp>
          <p:nvSpPr>
            <p:cNvPr id="40" name="TextBox 40"/>
            <p:cNvSpPr txBox="1"/>
            <p:nvPr/>
          </p:nvSpPr>
          <p:spPr>
            <a:xfrm>
              <a:off x="0" y="-38100"/>
              <a:ext cx="2358008" cy="760788"/>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grpSp>
        <p:nvGrpSpPr>
          <p:cNvPr id="41" name="Group 41"/>
          <p:cNvGrpSpPr/>
          <p:nvPr/>
        </p:nvGrpSpPr>
        <p:grpSpPr>
          <a:xfrm>
            <a:off x="920365" y="1030817"/>
            <a:ext cx="720641" cy="720641"/>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a:ln cap="sq">
              <a:noFill/>
              <a:prstDash val="solid"/>
              <a:miter/>
            </a:ln>
          </p:spPr>
        </p:sp>
        <p:sp>
          <p:nvSpPr>
            <p:cNvPr id="43" name="TextBox 43"/>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grpSp>
        <p:nvGrpSpPr>
          <p:cNvPr id="44" name="Group 44"/>
          <p:cNvGrpSpPr/>
          <p:nvPr/>
        </p:nvGrpSpPr>
        <p:grpSpPr>
          <a:xfrm>
            <a:off x="5772903" y="953082"/>
            <a:ext cx="720641" cy="720641"/>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A9F1"/>
            </a:solidFill>
            <a:ln cap="sq">
              <a:noFill/>
              <a:prstDash val="solid"/>
              <a:miter/>
            </a:ln>
          </p:spPr>
        </p:sp>
        <p:sp>
          <p:nvSpPr>
            <p:cNvPr id="46" name="TextBox 46"/>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866"/>
                </a:lnSpc>
              </a:pPr>
              <a:endParaRPr sz="800"/>
            </a:p>
          </p:txBody>
        </p:sp>
      </p:grpSp>
      <p:sp>
        <p:nvSpPr>
          <p:cNvPr id="47" name="Freeform 47"/>
          <p:cNvSpPr/>
          <p:nvPr/>
        </p:nvSpPr>
        <p:spPr>
          <a:xfrm>
            <a:off x="1011185" y="1103870"/>
            <a:ext cx="527574" cy="527574"/>
          </a:xfrm>
          <a:custGeom>
            <a:avLst/>
            <a:gdLst/>
            <a:ahLst/>
            <a:cxnLst/>
            <a:rect l="l" t="t" r="r" b="b"/>
            <a:pathLst>
              <a:path w="791361" h="791361">
                <a:moveTo>
                  <a:pt x="0" y="0"/>
                </a:moveTo>
                <a:lnTo>
                  <a:pt x="791360" y="0"/>
                </a:lnTo>
                <a:lnTo>
                  <a:pt x="791360" y="791361"/>
                </a:lnTo>
                <a:lnTo>
                  <a:pt x="0" y="791361"/>
                </a:lnTo>
                <a:lnTo>
                  <a:pt x="0" y="0"/>
                </a:lnTo>
                <a:close/>
              </a:path>
            </a:pathLst>
          </a:custGeom>
          <a:blipFill>
            <a:blip r:embed="rId3"/>
            <a:stretch>
              <a:fillRect/>
            </a:stretch>
          </a:blipFill>
        </p:spPr>
      </p:sp>
      <p:sp>
        <p:nvSpPr>
          <p:cNvPr id="48" name="Freeform 48"/>
          <p:cNvSpPr/>
          <p:nvPr/>
        </p:nvSpPr>
        <p:spPr>
          <a:xfrm>
            <a:off x="5856102" y="1036282"/>
            <a:ext cx="541542" cy="541542"/>
          </a:xfrm>
          <a:custGeom>
            <a:avLst/>
            <a:gdLst/>
            <a:ahLst/>
            <a:cxnLst/>
            <a:rect l="l" t="t" r="r" b="b"/>
            <a:pathLst>
              <a:path w="812313" h="812313">
                <a:moveTo>
                  <a:pt x="0" y="0"/>
                </a:moveTo>
                <a:lnTo>
                  <a:pt x="812313" y="0"/>
                </a:lnTo>
                <a:lnTo>
                  <a:pt x="812313" y="812313"/>
                </a:lnTo>
                <a:lnTo>
                  <a:pt x="0" y="812313"/>
                </a:lnTo>
                <a:lnTo>
                  <a:pt x="0" y="0"/>
                </a:lnTo>
                <a:close/>
              </a:path>
            </a:pathLst>
          </a:custGeom>
          <a:blipFill>
            <a:blip r:embed="rId4"/>
            <a:stretch>
              <a:fillRect/>
            </a:stretch>
          </a:blipFill>
        </p:spPr>
      </p:sp>
      <p:sp>
        <p:nvSpPr>
          <p:cNvPr id="49" name="Freeform 49"/>
          <p:cNvSpPr/>
          <p:nvPr/>
        </p:nvSpPr>
        <p:spPr>
          <a:xfrm>
            <a:off x="2017743" y="5830729"/>
            <a:ext cx="625423" cy="625423"/>
          </a:xfrm>
          <a:custGeom>
            <a:avLst/>
            <a:gdLst/>
            <a:ahLst/>
            <a:cxnLst/>
            <a:rect l="l" t="t" r="r" b="b"/>
            <a:pathLst>
              <a:path w="938134" h="938134">
                <a:moveTo>
                  <a:pt x="0" y="0"/>
                </a:moveTo>
                <a:lnTo>
                  <a:pt x="938133" y="0"/>
                </a:lnTo>
                <a:lnTo>
                  <a:pt x="938133" y="938134"/>
                </a:lnTo>
                <a:lnTo>
                  <a:pt x="0" y="938134"/>
                </a:lnTo>
                <a:lnTo>
                  <a:pt x="0" y="0"/>
                </a:lnTo>
                <a:close/>
              </a:path>
            </a:pathLst>
          </a:custGeom>
          <a:blipFill>
            <a:blip r:embed="rId5"/>
            <a:stretch>
              <a:fillRect/>
            </a:stretch>
          </a:blipFill>
        </p:spPr>
      </p:sp>
      <p:sp>
        <p:nvSpPr>
          <p:cNvPr id="50" name="Freeform 50"/>
          <p:cNvSpPr/>
          <p:nvPr/>
        </p:nvSpPr>
        <p:spPr>
          <a:xfrm>
            <a:off x="5876995" y="5830729"/>
            <a:ext cx="625423" cy="625423"/>
          </a:xfrm>
          <a:custGeom>
            <a:avLst/>
            <a:gdLst/>
            <a:ahLst/>
            <a:cxnLst/>
            <a:rect l="l" t="t" r="r" b="b"/>
            <a:pathLst>
              <a:path w="938134" h="938134">
                <a:moveTo>
                  <a:pt x="0" y="0"/>
                </a:moveTo>
                <a:lnTo>
                  <a:pt x="938133" y="0"/>
                </a:lnTo>
                <a:lnTo>
                  <a:pt x="938133" y="938134"/>
                </a:lnTo>
                <a:lnTo>
                  <a:pt x="0" y="938134"/>
                </a:lnTo>
                <a:lnTo>
                  <a:pt x="0" y="0"/>
                </a:lnTo>
                <a:close/>
              </a:path>
            </a:pathLst>
          </a:custGeom>
          <a:blipFill>
            <a:blip r:embed="rId6"/>
            <a:stretch>
              <a:fillRect r="-3792" b="-3792"/>
            </a:stretch>
          </a:blipFill>
        </p:spPr>
      </p:sp>
      <p:sp>
        <p:nvSpPr>
          <p:cNvPr id="51" name="Freeform 51"/>
          <p:cNvSpPr/>
          <p:nvPr/>
        </p:nvSpPr>
        <p:spPr>
          <a:xfrm>
            <a:off x="9576881" y="5830688"/>
            <a:ext cx="622775" cy="625463"/>
          </a:xfrm>
          <a:custGeom>
            <a:avLst/>
            <a:gdLst/>
            <a:ahLst/>
            <a:cxnLst/>
            <a:rect l="l" t="t" r="r" b="b"/>
            <a:pathLst>
              <a:path w="934163" h="938195">
                <a:moveTo>
                  <a:pt x="0" y="0"/>
                </a:moveTo>
                <a:lnTo>
                  <a:pt x="934163" y="0"/>
                </a:lnTo>
                <a:lnTo>
                  <a:pt x="934163" y="938196"/>
                </a:lnTo>
                <a:lnTo>
                  <a:pt x="0" y="938196"/>
                </a:lnTo>
                <a:lnTo>
                  <a:pt x="0" y="0"/>
                </a:lnTo>
                <a:close/>
              </a:path>
            </a:pathLst>
          </a:custGeom>
          <a:blipFill>
            <a:blip r:embed="rId7"/>
            <a:stretch>
              <a:fillRect l="-853" r="-853" b="-1269"/>
            </a:stretch>
          </a:blipFill>
        </p:spPr>
      </p:sp>
      <p:sp>
        <p:nvSpPr>
          <p:cNvPr id="52" name="TextBox 52"/>
          <p:cNvSpPr txBox="1"/>
          <p:nvPr/>
        </p:nvSpPr>
        <p:spPr>
          <a:xfrm>
            <a:off x="398379" y="313678"/>
            <a:ext cx="4371314" cy="41036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225"/>
              </a:lnSpc>
            </a:pPr>
            <a:r>
              <a:rPr lang="en-US" sz="2800" b="1" spc="-107">
                <a:solidFill>
                  <a:srgbClr val="7030A0"/>
                </a:solidFill>
                <a:latin typeface="Calibri"/>
                <a:ea typeface="Calibri"/>
                <a:cs typeface="Calibri"/>
                <a:sym typeface="Agrandir Bold"/>
              </a:rPr>
              <a:t>Concepts &amp; Prior Attempts</a:t>
            </a:r>
            <a:endParaRPr lang="en-US" sz="2800" b="1" spc="-107">
              <a:solidFill>
                <a:srgbClr val="7030A0"/>
              </a:solidFill>
              <a:latin typeface="Calibri"/>
              <a:ea typeface="Calibri"/>
              <a:cs typeface="Calibri"/>
            </a:endParaRPr>
          </a:p>
        </p:txBody>
      </p:sp>
      <p:sp>
        <p:nvSpPr>
          <p:cNvPr id="53" name="TextBox 53"/>
          <p:cNvSpPr txBox="1"/>
          <p:nvPr/>
        </p:nvSpPr>
        <p:spPr>
          <a:xfrm>
            <a:off x="1371082" y="3786143"/>
            <a:ext cx="1932112" cy="22442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r>
              <a:rPr lang="en-US" sz="1800" b="1" spc="-28">
                <a:solidFill>
                  <a:srgbClr val="000000"/>
                </a:solidFill>
                <a:latin typeface="Calibri"/>
                <a:ea typeface="Calibri"/>
                <a:cs typeface="Calibri"/>
                <a:sym typeface="Agrandir Bold"/>
              </a:rPr>
              <a:t>Student Profiles</a:t>
            </a:r>
            <a:endParaRPr lang="en-US" sz="1800" b="1" spc="-28">
              <a:solidFill>
                <a:srgbClr val="000000"/>
              </a:solidFill>
              <a:latin typeface="Calibri"/>
              <a:ea typeface="Calibri"/>
              <a:cs typeface="Calibri"/>
            </a:endParaRPr>
          </a:p>
        </p:txBody>
      </p:sp>
      <p:sp>
        <p:nvSpPr>
          <p:cNvPr id="54" name="TextBox 54"/>
          <p:cNvSpPr txBox="1"/>
          <p:nvPr/>
        </p:nvSpPr>
        <p:spPr>
          <a:xfrm>
            <a:off x="5195518" y="3714771"/>
            <a:ext cx="1932112" cy="4424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r>
              <a:rPr lang="en-US" sz="1800" b="1" spc="-28">
                <a:solidFill>
                  <a:srgbClr val="000000"/>
                </a:solidFill>
                <a:latin typeface="Calibri"/>
                <a:ea typeface="Calibri"/>
                <a:cs typeface="Calibri"/>
                <a:sym typeface="Agrandir Bold"/>
              </a:rPr>
              <a:t>Low-Pressure Matching</a:t>
            </a:r>
            <a:endParaRPr lang="en-US" sz="1800" b="1" spc="-28">
              <a:solidFill>
                <a:srgbClr val="000000"/>
              </a:solidFill>
              <a:latin typeface="Calibri"/>
              <a:ea typeface="Calibri"/>
              <a:cs typeface="Calibri"/>
            </a:endParaRPr>
          </a:p>
        </p:txBody>
      </p:sp>
      <p:sp>
        <p:nvSpPr>
          <p:cNvPr id="55" name="TextBox 55"/>
          <p:cNvSpPr txBox="1"/>
          <p:nvPr/>
        </p:nvSpPr>
        <p:spPr>
          <a:xfrm>
            <a:off x="1199830" y="4414842"/>
            <a:ext cx="2403593" cy="12047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20"/>
              </a:lnSpc>
            </a:pPr>
            <a:r>
              <a:rPr lang="en-US" sz="1400" spc="-24">
                <a:solidFill>
                  <a:srgbClr val="000000"/>
                </a:solidFill>
                <a:latin typeface="Calibri"/>
                <a:ea typeface="Calibri"/>
                <a:cs typeface="Calibri"/>
                <a:sym typeface="DM Sans"/>
              </a:rPr>
              <a:t>Give students information about:​</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Skills/interests ​</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Working preferences ​</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Previous group experience ​</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Reliability indicators</a:t>
            </a:r>
            <a:endParaRPr lang="en-US" sz="1400" spc="-24">
              <a:solidFill>
                <a:srgbClr val="000000"/>
              </a:solidFill>
              <a:latin typeface="Calibri"/>
              <a:ea typeface="Calibri"/>
              <a:cs typeface="Calibri"/>
            </a:endParaRPr>
          </a:p>
        </p:txBody>
      </p:sp>
      <p:sp>
        <p:nvSpPr>
          <p:cNvPr id="56" name="TextBox 56"/>
          <p:cNvSpPr txBox="1"/>
          <p:nvPr/>
        </p:nvSpPr>
        <p:spPr>
          <a:xfrm>
            <a:off x="4958904" y="4603887"/>
            <a:ext cx="2729650" cy="7949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20"/>
              </a:lnSpc>
            </a:pPr>
            <a:r>
              <a:rPr lang="en-US" sz="1400" spc="-24">
                <a:solidFill>
                  <a:srgbClr val="000000"/>
                </a:solidFill>
                <a:latin typeface="Calibri"/>
                <a:ea typeface="Calibri"/>
                <a:cs typeface="Calibri"/>
                <a:sym typeface="DM Sans"/>
              </a:rPr>
              <a:t>Instead of: “Can I join your group?”​</a:t>
            </a:r>
            <a:endParaRPr lang="en-US" sz="1400" spc="-24">
              <a:solidFill>
                <a:srgbClr val="000000"/>
              </a:solidFill>
              <a:latin typeface="Calibri"/>
              <a:ea typeface="Calibri"/>
              <a:cs typeface="Calibri"/>
            </a:endParaRPr>
          </a:p>
          <a:p>
            <a:pPr algn="l">
              <a:lnSpc>
                <a:spcPts val="533"/>
              </a:lnSpc>
            </a:pPr>
            <a:endParaRPr lang="en-US" sz="1400" spc="-24">
              <a:solidFill>
                <a:srgbClr val="000000"/>
              </a:solidFill>
              <a:latin typeface="Calibri"/>
              <a:ea typeface="Calibri"/>
              <a:cs typeface="Calibri"/>
            </a:endParaRPr>
          </a:p>
          <a:p>
            <a:pPr algn="l">
              <a:lnSpc>
                <a:spcPts val="1920"/>
              </a:lnSpc>
            </a:pPr>
            <a:r>
              <a:rPr lang="en-US" sz="1400" spc="-24">
                <a:solidFill>
                  <a:srgbClr val="000000"/>
                </a:solidFill>
                <a:latin typeface="Calibri"/>
                <a:ea typeface="Calibri"/>
                <a:cs typeface="Calibri"/>
                <a:sym typeface="DM Sans"/>
              </a:rPr>
              <a:t>Students can indicate interest before directly approaching someone.</a:t>
            </a:r>
            <a:endParaRPr lang="en-US" sz="1400" spc="-24">
              <a:solidFill>
                <a:srgbClr val="000000"/>
              </a:solidFill>
              <a:latin typeface="Calibri"/>
              <a:ea typeface="Calibri"/>
              <a:cs typeface="Calibri"/>
            </a:endParaRPr>
          </a:p>
        </p:txBody>
      </p:sp>
      <p:sp>
        <p:nvSpPr>
          <p:cNvPr id="57" name="TextBox 57"/>
          <p:cNvSpPr txBox="1"/>
          <p:nvPr/>
        </p:nvSpPr>
        <p:spPr>
          <a:xfrm>
            <a:off x="8922212" y="3786168"/>
            <a:ext cx="1932112" cy="22442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pPr>
            <a:r>
              <a:rPr lang="en-US" sz="1800" b="1" spc="-28">
                <a:solidFill>
                  <a:srgbClr val="000000"/>
                </a:solidFill>
                <a:latin typeface="Calibri"/>
                <a:ea typeface="Calibri"/>
                <a:cs typeface="Calibri"/>
                <a:sym typeface="Agrandir Bold"/>
              </a:rPr>
              <a:t>Group Finder</a:t>
            </a:r>
            <a:endParaRPr lang="en-US" sz="1800" b="1" spc="-28">
              <a:solidFill>
                <a:srgbClr val="000000"/>
              </a:solidFill>
              <a:latin typeface="Calibri"/>
              <a:ea typeface="Calibri"/>
              <a:cs typeface="Calibri"/>
            </a:endParaRPr>
          </a:p>
        </p:txBody>
      </p:sp>
      <p:sp>
        <p:nvSpPr>
          <p:cNvPr id="58" name="TextBox 58"/>
          <p:cNvSpPr txBox="1"/>
          <p:nvPr/>
        </p:nvSpPr>
        <p:spPr>
          <a:xfrm>
            <a:off x="8773960" y="4524232"/>
            <a:ext cx="2280775" cy="96109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lnSpc>
                <a:spcPts val="1920"/>
              </a:lnSpc>
            </a:pPr>
            <a:r>
              <a:rPr lang="en-US" sz="1400" spc="-24">
                <a:solidFill>
                  <a:srgbClr val="000000"/>
                </a:solidFill>
                <a:latin typeface="Calibri"/>
                <a:ea typeface="Calibri"/>
                <a:cs typeface="Calibri"/>
                <a:sym typeface="DM Sans"/>
              </a:rPr>
              <a:t>Show:​</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Students looking for groups​</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Available group spaces​</a:t>
            </a:r>
            <a:endParaRPr lang="en-US" sz="1400" spc="-24">
              <a:solidFill>
                <a:srgbClr val="000000"/>
              </a:solidFill>
              <a:latin typeface="Calibri"/>
              <a:ea typeface="Calibri"/>
              <a:cs typeface="Calibri"/>
            </a:endParaRPr>
          </a:p>
          <a:p>
            <a:pPr marL="259080" lvl="1" indent="-129540" algn="l">
              <a:lnSpc>
                <a:spcPts val="1920"/>
              </a:lnSpc>
              <a:buFont typeface="Arial"/>
              <a:buChar char="•"/>
            </a:pPr>
            <a:r>
              <a:rPr lang="en-US" sz="1400" spc="-24">
                <a:solidFill>
                  <a:srgbClr val="000000"/>
                </a:solidFill>
                <a:latin typeface="Calibri"/>
                <a:ea typeface="Calibri"/>
                <a:cs typeface="Calibri"/>
                <a:sym typeface="DM Sans"/>
              </a:rPr>
              <a:t>Potential compatibility</a:t>
            </a:r>
            <a:endParaRPr lang="en-US" sz="1400" spc="-24">
              <a:solidFill>
                <a:srgbClr val="000000"/>
              </a:solidFill>
              <a:latin typeface="Calibri"/>
              <a:ea typeface="Calibri"/>
              <a:cs typeface="Calibri"/>
            </a:endParaRPr>
          </a:p>
        </p:txBody>
      </p:sp>
      <p:sp>
        <p:nvSpPr>
          <p:cNvPr id="59" name="TextBox 59"/>
          <p:cNvSpPr txBox="1"/>
          <p:nvPr/>
        </p:nvSpPr>
        <p:spPr>
          <a:xfrm>
            <a:off x="510225" y="3113617"/>
            <a:ext cx="3234256" cy="31822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666"/>
              </a:lnSpc>
              <a:spcBef>
                <a:spcPct val="0"/>
              </a:spcBef>
            </a:pPr>
            <a:r>
              <a:rPr lang="en-US" sz="1666" b="1" spc="-33">
                <a:solidFill>
                  <a:srgbClr val="000000"/>
                </a:solidFill>
                <a:latin typeface="DM Sans Bold"/>
                <a:ea typeface="DM Sans Bold"/>
                <a:cs typeface="DM Sans Bold"/>
                <a:sym typeface="DM Sans Bold"/>
              </a:rPr>
              <a:t>Core Concepts/Features:​</a:t>
            </a:r>
          </a:p>
        </p:txBody>
      </p:sp>
      <p:sp>
        <p:nvSpPr>
          <p:cNvPr id="60" name="TextBox 60"/>
          <p:cNvSpPr txBox="1"/>
          <p:nvPr/>
        </p:nvSpPr>
        <p:spPr>
          <a:xfrm>
            <a:off x="1641005" y="1791590"/>
            <a:ext cx="3587555" cy="54111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9080" lvl="1" indent="-129540" algn="l">
              <a:lnSpc>
                <a:spcPts val="2159"/>
              </a:lnSpc>
              <a:buFont typeface="Arial"/>
              <a:buChar char="•"/>
            </a:pPr>
            <a:r>
              <a:rPr lang="en-US" sz="1400">
                <a:solidFill>
                  <a:srgbClr val="000000"/>
                </a:solidFill>
                <a:latin typeface="Calibri"/>
                <a:ea typeface="Calibri"/>
                <a:cs typeface="Calibri"/>
                <a:sym typeface="Cerebri"/>
              </a:rPr>
              <a:t>UQ</a:t>
            </a:r>
            <a:r>
              <a:rPr lang="en-US" sz="1400" strike="noStrike">
                <a:solidFill>
                  <a:srgbClr val="000000"/>
                </a:solidFill>
                <a:latin typeface="Calibri"/>
                <a:ea typeface="Calibri"/>
                <a:cs typeface="Calibri"/>
                <a:sym typeface="Cerebri"/>
              </a:rPr>
              <a:t> Ed Discussion / course Facebook groups​</a:t>
            </a:r>
            <a:endParaRPr lang="en-US" sz="1400" strike="noStrike">
              <a:solidFill>
                <a:srgbClr val="000000"/>
              </a:solidFill>
              <a:latin typeface="Calibri"/>
              <a:ea typeface="Calibri"/>
              <a:cs typeface="Calibri"/>
            </a:endParaRPr>
          </a:p>
          <a:p>
            <a:pPr marL="259080" lvl="1" indent="-129540" algn="l">
              <a:lnSpc>
                <a:spcPts val="2159"/>
              </a:lnSpc>
              <a:buFont typeface="Arial"/>
              <a:buChar char="•"/>
            </a:pPr>
            <a:r>
              <a:rPr lang="en-US" sz="1400" err="1">
                <a:solidFill>
                  <a:srgbClr val="000000"/>
                </a:solidFill>
                <a:latin typeface="Calibri"/>
                <a:ea typeface="Calibri"/>
                <a:cs typeface="Calibri"/>
                <a:sym typeface="Cerebri"/>
              </a:rPr>
              <a:t>StudyStream</a:t>
            </a:r>
            <a:r>
              <a:rPr lang="en-US" sz="1400" strike="noStrike">
                <a:solidFill>
                  <a:srgbClr val="000000"/>
                </a:solidFill>
                <a:latin typeface="Calibri"/>
                <a:ea typeface="Calibri"/>
                <a:cs typeface="Calibri"/>
                <a:sym typeface="Cerebri"/>
              </a:rPr>
              <a:t> (Discord-style study rooms)</a:t>
            </a:r>
            <a:endParaRPr lang="en-US" sz="1400" strike="noStrike">
              <a:solidFill>
                <a:srgbClr val="000000"/>
              </a:solidFill>
              <a:latin typeface="Calibri"/>
              <a:ea typeface="Calibri"/>
              <a:cs typeface="Calibri"/>
            </a:endParaRPr>
          </a:p>
        </p:txBody>
      </p:sp>
      <p:sp>
        <p:nvSpPr>
          <p:cNvPr id="61" name="TextBox 61"/>
          <p:cNvSpPr txBox="1"/>
          <p:nvPr/>
        </p:nvSpPr>
        <p:spPr>
          <a:xfrm>
            <a:off x="6402162" y="1666361"/>
            <a:ext cx="4824384" cy="12047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9870" lvl="1" indent="-114935" algn="l">
              <a:lnSpc>
                <a:spcPts val="1919"/>
              </a:lnSpc>
              <a:buFont typeface="Arial"/>
              <a:buChar char="•"/>
            </a:pPr>
            <a:r>
              <a:rPr lang="en-US" sz="1400">
                <a:solidFill>
                  <a:srgbClr val="000000"/>
                </a:solidFill>
                <a:latin typeface="Calibri"/>
                <a:ea typeface="Calibri"/>
                <a:cs typeface="Calibri"/>
                <a:sym typeface="Cerebri"/>
              </a:rPr>
              <a:t>Covers hundreds</a:t>
            </a:r>
            <a:r>
              <a:rPr lang="en-US" sz="1400" u="none" strike="noStrike">
                <a:solidFill>
                  <a:srgbClr val="000000"/>
                </a:solidFill>
                <a:latin typeface="Calibri"/>
                <a:ea typeface="Calibri"/>
                <a:cs typeface="Calibri"/>
                <a:sym typeface="Cerebri"/>
              </a:rPr>
              <a:t> of students per course. No matching to specific tutorial groups. Used for Q&amp;A. Not </a:t>
            </a:r>
            <a:r>
              <a:rPr lang="en-US" sz="1400" u="none" strike="noStrike" err="1">
                <a:solidFill>
                  <a:srgbClr val="000000"/>
                </a:solidFill>
                <a:latin typeface="Calibri"/>
                <a:ea typeface="Calibri"/>
                <a:cs typeface="Calibri"/>
                <a:sym typeface="Cerebri"/>
              </a:rPr>
              <a:t>socialising</a:t>
            </a:r>
            <a:r>
              <a:rPr lang="en-US" sz="1400" u="none" strike="noStrike">
                <a:solidFill>
                  <a:srgbClr val="000000"/>
                </a:solidFill>
                <a:latin typeface="Calibri"/>
                <a:ea typeface="Calibri"/>
                <a:cs typeface="Calibri"/>
                <a:sym typeface="Cerebri"/>
              </a:rPr>
              <a:t>.​</a:t>
            </a:r>
            <a:endParaRPr lang="en-US" sz="1400" u="none" strike="noStrike">
              <a:solidFill>
                <a:srgbClr val="000000"/>
              </a:solidFill>
              <a:latin typeface="Calibri"/>
              <a:ea typeface="Calibri"/>
              <a:cs typeface="Calibri"/>
            </a:endParaRPr>
          </a:p>
          <a:p>
            <a:pPr marL="229870" lvl="1" indent="-114935">
              <a:lnSpc>
                <a:spcPts val="1919"/>
              </a:lnSpc>
              <a:buFont typeface="Arial"/>
              <a:buChar char="•"/>
            </a:pPr>
            <a:r>
              <a:rPr lang="en-US" sz="1400">
                <a:solidFill>
                  <a:srgbClr val="000000"/>
                </a:solidFill>
                <a:ea typeface="+mn-lt"/>
                <a:cs typeface="+mn-lt"/>
              </a:rPr>
              <a:t>"Barely anyone used it though.” (Interview 3, 2026)</a:t>
            </a:r>
            <a:endParaRPr lang="en-US" sz="1400">
              <a:solidFill>
                <a:srgbClr val="000000"/>
              </a:solidFill>
              <a:latin typeface="Calibri"/>
              <a:ea typeface="Calibri"/>
              <a:cs typeface="Calibri"/>
              <a:sym typeface="Cerebri"/>
            </a:endParaRPr>
          </a:p>
          <a:p>
            <a:pPr marL="229870" lvl="1" indent="-114935" algn="l">
              <a:lnSpc>
                <a:spcPts val="1919"/>
              </a:lnSpc>
              <a:buFont typeface="Arial"/>
              <a:buChar char="•"/>
            </a:pPr>
            <a:r>
              <a:rPr lang="en-US" sz="1400" u="none" strike="noStrike">
                <a:solidFill>
                  <a:srgbClr val="000000"/>
                </a:solidFill>
                <a:latin typeface="Calibri"/>
                <a:ea typeface="Calibri"/>
                <a:cs typeface="Calibri"/>
                <a:sym typeface="Cerebri"/>
              </a:rPr>
              <a:t>Designed for body-doubling / co-studying, not forming assessment groups. Open to strangers with no course affiliation</a:t>
            </a:r>
            <a:endParaRPr lang="en-US" sz="1400" u="none" strike="noStrike">
              <a:solidFill>
                <a:srgbClr val="000000"/>
              </a:solidFill>
              <a:latin typeface="Calibri"/>
              <a:ea typeface="Calibri"/>
              <a:cs typeface="Calibri"/>
            </a:endParaRPr>
          </a:p>
        </p:txBody>
      </p:sp>
      <p:sp>
        <p:nvSpPr>
          <p:cNvPr id="62" name="TextBox 62"/>
          <p:cNvSpPr txBox="1"/>
          <p:nvPr/>
        </p:nvSpPr>
        <p:spPr>
          <a:xfrm>
            <a:off x="1729258" y="1432548"/>
            <a:ext cx="1875251" cy="2564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lvl="0" indent="0" algn="l">
              <a:lnSpc>
                <a:spcPts val="1959"/>
              </a:lnSpc>
              <a:spcBef>
                <a:spcPct val="0"/>
              </a:spcBef>
            </a:pPr>
            <a:r>
              <a:rPr lang="en-US" sz="1800" b="1">
                <a:solidFill>
                  <a:srgbClr val="000000"/>
                </a:solidFill>
                <a:latin typeface="Calibri"/>
                <a:ea typeface="Calibri"/>
                <a:cs typeface="Calibri"/>
                <a:sym typeface="Cerebri Bold"/>
              </a:rPr>
              <a:t>Existing solution</a:t>
            </a:r>
            <a:endParaRPr lang="en-US" sz="1800" b="1">
              <a:solidFill>
                <a:srgbClr val="000000"/>
              </a:solidFill>
              <a:latin typeface="Calibri"/>
              <a:ea typeface="Calibri"/>
              <a:cs typeface="Calibri"/>
            </a:endParaRPr>
          </a:p>
        </p:txBody>
      </p:sp>
      <p:sp>
        <p:nvSpPr>
          <p:cNvPr id="63" name="TextBox 63"/>
          <p:cNvSpPr txBox="1"/>
          <p:nvPr/>
        </p:nvSpPr>
        <p:spPr>
          <a:xfrm>
            <a:off x="6600491" y="1416515"/>
            <a:ext cx="1570145" cy="2564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lvl="0" indent="0" algn="l">
              <a:lnSpc>
                <a:spcPts val="1959"/>
              </a:lnSpc>
              <a:spcBef>
                <a:spcPct val="0"/>
              </a:spcBef>
            </a:pPr>
            <a:r>
              <a:rPr lang="en-US" sz="1800" b="1">
                <a:solidFill>
                  <a:srgbClr val="000000"/>
                </a:solidFill>
                <a:latin typeface="Calibri"/>
                <a:ea typeface="Calibri"/>
                <a:cs typeface="Calibri"/>
                <a:sym typeface="Cerebri Bold"/>
              </a:rPr>
              <a:t>Limitation</a:t>
            </a:r>
            <a:endParaRPr lang="en-US" sz="1800" b="1">
              <a:solidFill>
                <a:srgbClr val="000000"/>
              </a:solidFill>
              <a:latin typeface="Calibri"/>
              <a:ea typeface="Calibri"/>
              <a:cs typeface="Calibri"/>
            </a:endParaRPr>
          </a:p>
        </p:txBody>
      </p:sp>
    </p:spTree>
    <p:extLst>
      <p:ext uri="{BB962C8B-B14F-4D97-AF65-F5344CB8AC3E}">
        <p14:creationId xmlns:p14="http://schemas.microsoft.com/office/powerpoint/2010/main" val="1225650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364514" y="1975732"/>
            <a:ext cx="2097919" cy="2097919"/>
          </a:xfrm>
          <a:custGeom>
            <a:avLst/>
            <a:gdLst/>
            <a:ahLst/>
            <a:cxnLst/>
            <a:rect l="l" t="t" r="r" b="b"/>
            <a:pathLst>
              <a:path w="3146878" h="3146878">
                <a:moveTo>
                  <a:pt x="0" y="0"/>
                </a:moveTo>
                <a:lnTo>
                  <a:pt x="3146878" y="0"/>
                </a:lnTo>
                <a:lnTo>
                  <a:pt x="3146878" y="3146878"/>
                </a:lnTo>
                <a:lnTo>
                  <a:pt x="0" y="3146878"/>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3" name="Freeform 3"/>
          <p:cNvSpPr/>
          <p:nvPr/>
        </p:nvSpPr>
        <p:spPr>
          <a:xfrm>
            <a:off x="6398206" y="1948995"/>
            <a:ext cx="2097919" cy="2097919"/>
          </a:xfrm>
          <a:custGeom>
            <a:avLst/>
            <a:gdLst/>
            <a:ahLst/>
            <a:cxnLst/>
            <a:rect l="l" t="t" r="r" b="b"/>
            <a:pathLst>
              <a:path w="3146878" h="3146878">
                <a:moveTo>
                  <a:pt x="0" y="0"/>
                </a:moveTo>
                <a:lnTo>
                  <a:pt x="3146878" y="0"/>
                </a:lnTo>
                <a:lnTo>
                  <a:pt x="3146878" y="3146878"/>
                </a:lnTo>
                <a:lnTo>
                  <a:pt x="0" y="3146878"/>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4" name="Freeform 4"/>
          <p:cNvSpPr/>
          <p:nvPr/>
        </p:nvSpPr>
        <p:spPr>
          <a:xfrm>
            <a:off x="3557734" y="3319270"/>
            <a:ext cx="2097919" cy="2097919"/>
          </a:xfrm>
          <a:custGeom>
            <a:avLst/>
            <a:gdLst/>
            <a:ahLst/>
            <a:cxnLst/>
            <a:rect l="l" t="t" r="r" b="b"/>
            <a:pathLst>
              <a:path w="3146878" h="3146878">
                <a:moveTo>
                  <a:pt x="0" y="0"/>
                </a:moveTo>
                <a:lnTo>
                  <a:pt x="3146879" y="0"/>
                </a:lnTo>
                <a:lnTo>
                  <a:pt x="3146879" y="3146878"/>
                </a:lnTo>
                <a:lnTo>
                  <a:pt x="0" y="3146878"/>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lIns="91440" tIns="45720" rIns="91440" bIns="45720" anchor="t"/>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zh-CN" altLang="en-US" sz="800">
                <a:ea typeface="等线"/>
                <a:cs typeface="Calibri"/>
              </a:rPr>
              <a:t> </a:t>
            </a:r>
            <a:endParaRPr lang="zh-CN" altLang="en-US" sz="800"/>
          </a:p>
        </p:txBody>
      </p:sp>
      <p:sp>
        <p:nvSpPr>
          <p:cNvPr id="5" name="Freeform 5"/>
          <p:cNvSpPr/>
          <p:nvPr/>
        </p:nvSpPr>
        <p:spPr>
          <a:xfrm>
            <a:off x="9523316" y="3319270"/>
            <a:ext cx="2097919" cy="2097919"/>
          </a:xfrm>
          <a:custGeom>
            <a:avLst/>
            <a:gdLst/>
            <a:ahLst/>
            <a:cxnLst/>
            <a:rect l="l" t="t" r="r" b="b"/>
            <a:pathLst>
              <a:path w="3146878" h="3146878">
                <a:moveTo>
                  <a:pt x="0" y="0"/>
                </a:moveTo>
                <a:lnTo>
                  <a:pt x="3146878" y="0"/>
                </a:lnTo>
                <a:lnTo>
                  <a:pt x="3146878" y="3146878"/>
                </a:lnTo>
                <a:lnTo>
                  <a:pt x="0" y="3146878"/>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a:ln cap="sq">
            <a:noFill/>
            <a:prstDash val="solid"/>
            <a:miter/>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6" name="Freeform 6"/>
          <p:cNvSpPr/>
          <p:nvPr/>
        </p:nvSpPr>
        <p:spPr>
          <a:xfrm rot="1620000">
            <a:off x="1730749" y="3897966"/>
            <a:ext cx="2872207" cy="334375"/>
          </a:xfrm>
          <a:custGeom>
            <a:avLst/>
            <a:gdLst/>
            <a:ahLst/>
            <a:cxnLst/>
            <a:rect l="l" t="t" r="r" b="b"/>
            <a:pathLst>
              <a:path w="4308311" h="501563">
                <a:moveTo>
                  <a:pt x="0" y="0"/>
                </a:moveTo>
                <a:lnTo>
                  <a:pt x="4308311" y="0"/>
                </a:lnTo>
                <a:lnTo>
                  <a:pt x="4308311" y="501563"/>
                </a:lnTo>
                <a:lnTo>
                  <a:pt x="0" y="501563"/>
                </a:lnTo>
                <a:lnTo>
                  <a:pt x="0" y="0"/>
                </a:lnTo>
                <a:close/>
              </a:path>
            </a:pathLst>
          </a:custGeom>
          <a:blipFill>
            <a:blip>
              <a:extLst>
                <a:ext uri="{96DAC541-7B7A-43D3-8B79-37D633B846F1}">
                  <asvg:svgBlip xmlns:asvg="http://schemas.microsoft.com/office/drawing/2016/SVG/main" r:embed="rId4"/>
                </a:ext>
              </a:extLst>
            </a:blip>
            <a:stretch>
              <a:fillRect l="-21596" b="-235541"/>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7" name="Freeform 7"/>
          <p:cNvSpPr/>
          <p:nvPr/>
        </p:nvSpPr>
        <p:spPr>
          <a:xfrm rot="1585307">
            <a:off x="7576772" y="3663235"/>
            <a:ext cx="2872207" cy="334375"/>
          </a:xfrm>
          <a:custGeom>
            <a:avLst/>
            <a:gdLst/>
            <a:ahLst/>
            <a:cxnLst/>
            <a:rect l="l" t="t" r="r" b="b"/>
            <a:pathLst>
              <a:path w="4308311" h="501563">
                <a:moveTo>
                  <a:pt x="0" y="0"/>
                </a:moveTo>
                <a:lnTo>
                  <a:pt x="4308311" y="0"/>
                </a:lnTo>
                <a:lnTo>
                  <a:pt x="4308311" y="501563"/>
                </a:lnTo>
                <a:lnTo>
                  <a:pt x="0" y="501563"/>
                </a:lnTo>
                <a:lnTo>
                  <a:pt x="0" y="0"/>
                </a:lnTo>
                <a:close/>
              </a:path>
            </a:pathLst>
          </a:custGeom>
          <a:blipFill>
            <a:blip>
              <a:extLst>
                <a:ext uri="{96DAC541-7B7A-43D3-8B79-37D633B846F1}">
                  <asvg:svgBlip xmlns:asvg="http://schemas.microsoft.com/office/drawing/2016/SVG/main" r:embed="rId4"/>
                </a:ext>
              </a:extLst>
            </a:blip>
            <a:stretch>
              <a:fillRect l="-21596" b="-235541"/>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8" name="Freeform 8"/>
          <p:cNvSpPr/>
          <p:nvPr/>
        </p:nvSpPr>
        <p:spPr>
          <a:xfrm rot="19692000">
            <a:off x="4750953" y="3591943"/>
            <a:ext cx="2872207" cy="334375"/>
          </a:xfrm>
          <a:custGeom>
            <a:avLst/>
            <a:gdLst/>
            <a:ahLst/>
            <a:cxnLst/>
            <a:rect l="l" t="t" r="r" b="b"/>
            <a:pathLst>
              <a:path w="4308311" h="501563">
                <a:moveTo>
                  <a:pt x="0" y="0"/>
                </a:moveTo>
                <a:lnTo>
                  <a:pt x="4308311" y="0"/>
                </a:lnTo>
                <a:lnTo>
                  <a:pt x="4308311" y="501563"/>
                </a:lnTo>
                <a:lnTo>
                  <a:pt x="0" y="501563"/>
                </a:lnTo>
                <a:lnTo>
                  <a:pt x="0" y="0"/>
                </a:lnTo>
                <a:close/>
              </a:path>
            </a:pathLst>
          </a:custGeom>
          <a:blipFill>
            <a:blip>
              <a:extLst>
                <a:ext uri="{96DAC541-7B7A-43D3-8B79-37D633B846F1}">
                  <asvg:svgBlip xmlns:asvg="http://schemas.microsoft.com/office/drawing/2016/SVG/main" r:embed="rId4"/>
                </a:ext>
              </a:extLst>
            </a:blip>
            <a:stretch>
              <a:fillRect l="-21596" b="-235541"/>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grpSp>
        <p:nvGrpSpPr>
          <p:cNvPr id="9" name="Group 9"/>
          <p:cNvGrpSpPr/>
          <p:nvPr/>
        </p:nvGrpSpPr>
        <p:grpSpPr>
          <a:xfrm>
            <a:off x="715615" y="2300096"/>
            <a:ext cx="1395718" cy="139571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11" name="TextBox 11"/>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endParaRPr sz="800"/>
            </a:p>
          </p:txBody>
        </p:sp>
      </p:grpSp>
      <p:grpSp>
        <p:nvGrpSpPr>
          <p:cNvPr id="12" name="Group 12"/>
          <p:cNvGrpSpPr/>
          <p:nvPr/>
        </p:nvGrpSpPr>
        <p:grpSpPr>
          <a:xfrm>
            <a:off x="3908835" y="3831281"/>
            <a:ext cx="1395718" cy="139571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14" name="TextBox 14"/>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endParaRPr sz="800"/>
            </a:p>
          </p:txBody>
        </p:sp>
      </p:grpSp>
      <p:grpSp>
        <p:nvGrpSpPr>
          <p:cNvPr id="15" name="Group 15"/>
          <p:cNvGrpSpPr/>
          <p:nvPr/>
        </p:nvGrpSpPr>
        <p:grpSpPr>
          <a:xfrm>
            <a:off x="2998647" y="1041669"/>
            <a:ext cx="3421829" cy="4073290"/>
            <a:chOff x="-899426" y="-815604"/>
            <a:chExt cx="6843658" cy="8146579"/>
          </a:xfrm>
        </p:grpSpPr>
        <p:sp>
          <p:nvSpPr>
            <p:cNvPr id="16" name="TextBox 16"/>
            <p:cNvSpPr txBox="1"/>
            <p:nvPr/>
          </p:nvSpPr>
          <p:spPr>
            <a:xfrm>
              <a:off x="1353806" y="5997055"/>
              <a:ext cx="1919380" cy="133392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79"/>
                </a:lnSpc>
                <a:spcBef>
                  <a:spcPct val="0"/>
                </a:spcBef>
              </a:pPr>
              <a:r>
                <a:rPr lang="en-US" sz="1400" b="1" spc="35">
                  <a:solidFill>
                    <a:srgbClr val="142740"/>
                  </a:solidFill>
                  <a:latin typeface="Calibri"/>
                  <a:ea typeface="Calibri"/>
                  <a:cs typeface="Calibri"/>
                  <a:sym typeface="Proxima Nova Bold"/>
                </a:rPr>
                <a:t>Design &amp; </a:t>
              </a:r>
            </a:p>
            <a:p>
              <a:pPr algn="ctr">
                <a:lnSpc>
                  <a:spcPts val="1679"/>
                </a:lnSpc>
                <a:spcBef>
                  <a:spcPct val="0"/>
                </a:spcBef>
              </a:pPr>
              <a:r>
                <a:rPr lang="en-US" sz="1400" b="1" spc="35">
                  <a:solidFill>
                    <a:srgbClr val="142740"/>
                  </a:solidFill>
                  <a:latin typeface="Calibri"/>
                  <a:ea typeface="Calibri"/>
                  <a:cs typeface="Calibri"/>
                  <a:sym typeface="Proxima Nova Bold"/>
                </a:rPr>
                <a:t>Prototype </a:t>
              </a:r>
            </a:p>
            <a:p>
              <a:pPr algn="ctr">
                <a:lnSpc>
                  <a:spcPts val="1679"/>
                </a:lnSpc>
                <a:spcBef>
                  <a:spcPct val="0"/>
                </a:spcBef>
              </a:pPr>
              <a:r>
                <a:rPr lang="en-US" sz="1400" b="1" u="none" strike="noStrike" spc="35">
                  <a:solidFill>
                    <a:srgbClr val="142740"/>
                  </a:solidFill>
                  <a:latin typeface="Calibri"/>
                  <a:ea typeface="Calibri"/>
                  <a:cs typeface="Calibri"/>
                  <a:sym typeface="Proxima Nova Bold"/>
                </a:rPr>
                <a:t>(Week </a:t>
              </a:r>
              <a:r>
                <a:rPr lang="en-US" sz="1400" b="1" spc="35">
                  <a:solidFill>
                    <a:srgbClr val="142740"/>
                  </a:solidFill>
                  <a:latin typeface="Calibri"/>
                  <a:ea typeface="Calibri"/>
                  <a:cs typeface="Calibri"/>
                  <a:sym typeface="Proxima Nova Bold"/>
                </a:rPr>
                <a:t>6-7</a:t>
              </a:r>
              <a:r>
                <a:rPr lang="en-US" sz="1400" b="1" u="none" strike="noStrike" spc="35">
                  <a:solidFill>
                    <a:srgbClr val="142740"/>
                  </a:solidFill>
                  <a:latin typeface="Calibri"/>
                  <a:ea typeface="Calibri"/>
                  <a:cs typeface="Calibri"/>
                  <a:sym typeface="Proxima Nova Bold"/>
                </a:rPr>
                <a:t>)</a:t>
              </a:r>
              <a:endParaRPr lang="en-US" sz="1400" b="1" u="none" strike="noStrike" spc="35">
                <a:solidFill>
                  <a:srgbClr val="142740"/>
                </a:solidFill>
                <a:latin typeface="Calibri"/>
                <a:ea typeface="Calibri"/>
                <a:cs typeface="Calibri"/>
              </a:endParaRPr>
            </a:p>
          </p:txBody>
        </p:sp>
        <p:sp>
          <p:nvSpPr>
            <p:cNvPr id="17" name="TextBox 17"/>
            <p:cNvSpPr txBox="1"/>
            <p:nvPr/>
          </p:nvSpPr>
          <p:spPr>
            <a:xfrm>
              <a:off x="-899426" y="-815604"/>
              <a:ext cx="6843658" cy="52077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400" b="1">
                  <a:solidFill>
                    <a:srgbClr val="000000"/>
                  </a:solidFill>
                  <a:latin typeface="Calibri"/>
                  <a:ea typeface="Calibri"/>
                  <a:cs typeface="Calibri"/>
                  <a:sym typeface="Proxima Nova Bold"/>
                </a:rPr>
                <a:t>What we need to know</a:t>
              </a:r>
              <a:endParaRPr lang="en-US" sz="1400">
                <a:solidFill>
                  <a:srgbClr val="000000"/>
                </a:solidFill>
                <a:latin typeface="Calibri"/>
                <a:ea typeface="Calibri"/>
                <a:cs typeface="Calibri"/>
              </a:endParaRPr>
            </a:p>
            <a:p>
              <a:pPr>
                <a:lnSpc>
                  <a:spcPts val="1680"/>
                </a:lnSpc>
                <a:spcBef>
                  <a:spcPct val="0"/>
                </a:spcBef>
              </a:pPr>
              <a:r>
                <a:rPr lang="en-US" sz="1400">
                  <a:solidFill>
                    <a:srgbClr val="525963"/>
                  </a:solidFill>
                  <a:latin typeface="Calibri"/>
                  <a:ea typeface="Calibri"/>
                  <a:cs typeface="Calibri"/>
                  <a:sym typeface="Proxima Nova"/>
                </a:rPr>
                <a:t>How can identified user needs translate into experience requirements and design directions</a:t>
              </a:r>
              <a:r>
                <a:rPr lang="en-US" sz="1400" u="none" strike="noStrike">
                  <a:solidFill>
                    <a:srgbClr val="525963"/>
                  </a:solidFill>
                  <a:latin typeface="Calibri"/>
                  <a:ea typeface="Calibri"/>
                  <a:cs typeface="Calibri"/>
                  <a:sym typeface="Proxima Nova"/>
                </a:rPr>
                <a:t>?</a:t>
              </a:r>
              <a:endParaRPr lang="en-US"/>
            </a:p>
            <a:p>
              <a:r>
                <a:rPr lang="en-US" sz="1400" b="1">
                  <a:solidFill>
                    <a:srgbClr val="000000"/>
                  </a:solidFill>
                  <a:latin typeface="Calibri"/>
                  <a:ea typeface="Calibri"/>
                  <a:cs typeface="Calibri"/>
                  <a:sym typeface="Proxima Nova Bold"/>
                </a:rPr>
                <a:t>How to investigate</a:t>
              </a:r>
              <a:endParaRPr lang="en-US" sz="1400">
                <a:solidFill>
                  <a:srgbClr val="000000"/>
                </a:solidFill>
                <a:latin typeface="Calibri"/>
                <a:ea typeface="Calibri"/>
                <a:cs typeface="Calibri"/>
                <a:sym typeface="Proxima Nova Bold"/>
              </a:endParaRP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Concept exploration &amp; comparison</a:t>
              </a:r>
              <a:endParaRPr lang="en-US">
                <a:solidFill>
                  <a:srgbClr val="000000"/>
                </a:solidFill>
                <a:latin typeface="Calibri"/>
                <a:ea typeface="Calibri"/>
                <a:cs typeface="Calibri"/>
                <a:sym typeface="Proxima Nova"/>
              </a:endParaRP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Scenarios/workflows</a:t>
              </a:r>
              <a:endParaRPr lang="en-US">
                <a:solidFill>
                  <a:srgbClr val="000000"/>
                </a:solidFill>
                <a:latin typeface="Calibri"/>
                <a:ea typeface="Calibri"/>
                <a:cs typeface="Calibri"/>
                <a:sym typeface="Proxima Nova"/>
              </a:endParaRP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interactive prototyping</a:t>
              </a:r>
              <a:endParaRPr lang="en-US">
                <a:ea typeface="Calibri"/>
                <a:cs typeface="Calibri"/>
              </a:endParaRPr>
            </a:p>
            <a:p>
              <a:pPr>
                <a:lnSpc>
                  <a:spcPts val="1680"/>
                </a:lnSpc>
                <a:spcBef>
                  <a:spcPct val="0"/>
                </a:spcBef>
              </a:pPr>
              <a:r>
                <a:rPr lang="en-US" sz="1400" b="1">
                  <a:solidFill>
                    <a:srgbClr val="525963"/>
                  </a:solidFill>
                  <a:latin typeface="Calibri"/>
                  <a:ea typeface="Calibri"/>
                  <a:cs typeface="Calibri"/>
                </a:rPr>
                <a:t>Outcome</a:t>
              </a:r>
            </a:p>
            <a:p>
              <a:pPr marL="259080" lvl="1" indent="-129540">
                <a:lnSpc>
                  <a:spcPts val="1680"/>
                </a:lnSpc>
                <a:buFont typeface="Arial,Sans-Serif"/>
                <a:buChar char="•"/>
              </a:pPr>
              <a:r>
                <a:rPr lang="en-US" sz="1400">
                  <a:solidFill>
                    <a:srgbClr val="525963"/>
                  </a:solidFill>
                  <a:latin typeface="Calibri"/>
                  <a:ea typeface="Calibri"/>
                  <a:cs typeface="Calibri"/>
                </a:rPr>
                <a:t>Refined design direction </a:t>
              </a:r>
              <a:endParaRPr lang="en-US" sz="1400">
                <a:solidFill>
                  <a:srgbClr val="000000"/>
                </a:solidFill>
                <a:latin typeface="Calibri"/>
                <a:ea typeface="Calibri"/>
                <a:cs typeface="Calibri"/>
              </a:endParaRPr>
            </a:p>
            <a:p>
              <a:pPr marL="259080" lvl="1" indent="-129540">
                <a:lnSpc>
                  <a:spcPts val="1680"/>
                </a:lnSpc>
                <a:buFont typeface="Arial,Sans-Serif"/>
                <a:buChar char="•"/>
              </a:pPr>
              <a:r>
                <a:rPr lang="en-US" sz="1400">
                  <a:solidFill>
                    <a:srgbClr val="525963"/>
                  </a:solidFill>
                  <a:latin typeface="Calibri"/>
                  <a:ea typeface="Calibri"/>
                  <a:cs typeface="Calibri"/>
                </a:rPr>
                <a:t>Clear experience requirements</a:t>
              </a:r>
              <a:endParaRPr lang="en-US" sz="1400">
                <a:solidFill>
                  <a:srgbClr val="000000"/>
                </a:solidFill>
                <a:latin typeface="Calibri"/>
                <a:ea typeface="Calibri"/>
                <a:cs typeface="Calibri"/>
              </a:endParaRPr>
            </a:p>
            <a:p>
              <a:pPr marL="259080" lvl="1" indent="-129540">
                <a:lnSpc>
                  <a:spcPts val="1680"/>
                </a:lnSpc>
                <a:buFont typeface="Arial,Sans-Serif"/>
                <a:buChar char="•"/>
              </a:pPr>
              <a:r>
                <a:rPr lang="en-US" sz="1400">
                  <a:solidFill>
                    <a:srgbClr val="525963"/>
                  </a:solidFill>
                  <a:latin typeface="Calibri"/>
                  <a:ea typeface="Calibri"/>
                  <a:cs typeface="Calibri"/>
                </a:rPr>
                <a:t>Early prototype</a:t>
              </a:r>
            </a:p>
          </p:txBody>
        </p:sp>
      </p:grpSp>
      <p:grpSp>
        <p:nvGrpSpPr>
          <p:cNvPr id="18" name="Group 18"/>
          <p:cNvGrpSpPr/>
          <p:nvPr/>
        </p:nvGrpSpPr>
        <p:grpSpPr>
          <a:xfrm>
            <a:off x="6698440" y="2300096"/>
            <a:ext cx="1395718" cy="139571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20" name="TextBox 20"/>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endParaRPr sz="800"/>
            </a:p>
          </p:txBody>
        </p:sp>
      </p:grpSp>
      <p:grpSp>
        <p:nvGrpSpPr>
          <p:cNvPr id="21" name="Group 21"/>
          <p:cNvGrpSpPr/>
          <p:nvPr/>
        </p:nvGrpSpPr>
        <p:grpSpPr>
          <a:xfrm>
            <a:off x="9824546" y="3695814"/>
            <a:ext cx="1395718" cy="1395718"/>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23" name="TextBox 23"/>
            <p:cNvSpPr txBox="1"/>
            <p:nvPr/>
          </p:nvSpPr>
          <p:spPr>
            <a:xfrm>
              <a:off x="76200" y="38100"/>
              <a:ext cx="660400" cy="6985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239"/>
                </a:lnSpc>
              </a:pPr>
              <a:endParaRPr sz="800"/>
            </a:p>
          </p:txBody>
        </p:sp>
      </p:grpSp>
      <p:grpSp>
        <p:nvGrpSpPr>
          <p:cNvPr id="24" name="Group 24"/>
          <p:cNvGrpSpPr/>
          <p:nvPr/>
        </p:nvGrpSpPr>
        <p:grpSpPr>
          <a:xfrm>
            <a:off x="6261810" y="2916760"/>
            <a:ext cx="2938672" cy="3724984"/>
            <a:chOff x="-424046" y="-38100"/>
            <a:chExt cx="5877345" cy="7449967"/>
          </a:xfrm>
        </p:grpSpPr>
        <p:sp>
          <p:nvSpPr>
            <p:cNvPr id="25" name="TextBox 25"/>
            <p:cNvSpPr txBox="1"/>
            <p:nvPr/>
          </p:nvSpPr>
          <p:spPr>
            <a:xfrm>
              <a:off x="857844" y="-38100"/>
              <a:ext cx="2013296" cy="1293816"/>
            </a:xfrm>
            <a:prstGeom prst="rect">
              <a:avLst/>
            </a:prstGeom>
          </p:spPr>
          <p:txBody>
            <a:bodyPr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79"/>
                </a:lnSpc>
                <a:spcBef>
                  <a:spcPct val="0"/>
                </a:spcBef>
              </a:pPr>
              <a:r>
                <a:rPr lang="en-US" sz="1400" b="1" spc="35">
                  <a:solidFill>
                    <a:srgbClr val="142740"/>
                  </a:solidFill>
                  <a:latin typeface="Calibri"/>
                  <a:ea typeface="Calibri"/>
                  <a:cs typeface="Calibri"/>
                  <a:sym typeface="Proxima Nova Bold"/>
                </a:rPr>
                <a:t>Evaluate &amp; Develop  </a:t>
              </a:r>
              <a:r>
                <a:rPr lang="en-US" sz="1400" b="1" u="none" strike="noStrike" spc="35">
                  <a:solidFill>
                    <a:srgbClr val="142740"/>
                  </a:solidFill>
                  <a:latin typeface="Calibri"/>
                  <a:ea typeface="Calibri"/>
                  <a:cs typeface="Calibri"/>
                  <a:sym typeface="Proxima Nova Bold"/>
                </a:rPr>
                <a:t>(Week </a:t>
              </a:r>
              <a:r>
                <a:rPr lang="en-US" sz="1400" b="1" spc="35">
                  <a:solidFill>
                    <a:srgbClr val="142740"/>
                  </a:solidFill>
                  <a:latin typeface="Calibri"/>
                  <a:ea typeface="Calibri"/>
                  <a:cs typeface="Calibri"/>
                  <a:sym typeface="Proxima Nova Bold"/>
                </a:rPr>
                <a:t>8</a:t>
              </a:r>
              <a:r>
                <a:rPr lang="en-US" sz="1400" b="1" u="none" strike="noStrike" spc="35">
                  <a:solidFill>
                    <a:srgbClr val="142740"/>
                  </a:solidFill>
                  <a:latin typeface="Calibri"/>
                  <a:ea typeface="Calibri"/>
                  <a:cs typeface="Calibri"/>
                  <a:sym typeface="Proxima Nova Bold"/>
                </a:rPr>
                <a:t>)</a:t>
              </a:r>
              <a:endParaRPr lang="en-US" sz="1400" b="1" u="none" strike="noStrike" spc="35">
                <a:solidFill>
                  <a:srgbClr val="142740"/>
                </a:solidFill>
                <a:latin typeface="Calibri"/>
                <a:ea typeface="Calibri"/>
                <a:cs typeface="Calibri"/>
              </a:endParaRPr>
            </a:p>
          </p:txBody>
        </p:sp>
        <p:sp>
          <p:nvSpPr>
            <p:cNvPr id="26" name="TextBox 26"/>
            <p:cNvSpPr txBox="1"/>
            <p:nvPr/>
          </p:nvSpPr>
          <p:spPr>
            <a:xfrm>
              <a:off x="-424046" y="1799690"/>
              <a:ext cx="5877345" cy="561217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400" b="1">
                  <a:solidFill>
                    <a:srgbClr val="000000"/>
                  </a:solidFill>
                  <a:latin typeface="Calibri"/>
                  <a:ea typeface="Calibri"/>
                  <a:cs typeface="Calibri"/>
                  <a:sym typeface="Proxima Nova Bold"/>
                </a:rPr>
                <a:t>What we need to know</a:t>
              </a:r>
              <a:endParaRPr lang="en-US" sz="1400" u="none" strike="noStrike">
                <a:solidFill>
                  <a:srgbClr val="000000"/>
                </a:solidFill>
                <a:latin typeface="Calibri"/>
                <a:ea typeface="Calibri"/>
                <a:cs typeface="Calibri"/>
              </a:endParaRPr>
            </a:p>
            <a:p>
              <a:pPr>
                <a:lnSpc>
                  <a:spcPts val="1680"/>
                </a:lnSpc>
                <a:spcBef>
                  <a:spcPct val="0"/>
                </a:spcBef>
              </a:pPr>
              <a:r>
                <a:rPr lang="en-US" sz="1400" u="none" strike="noStrike">
                  <a:solidFill>
                    <a:srgbClr val="525963"/>
                  </a:solidFill>
                  <a:ea typeface="+mn-lt"/>
                  <a:cs typeface="+mn-lt"/>
                  <a:sym typeface="Proxima Nova"/>
                </a:rPr>
                <a:t>How </a:t>
              </a:r>
              <a:r>
                <a:rPr lang="en-US" sz="1400">
                  <a:solidFill>
                    <a:srgbClr val="525963"/>
                  </a:solidFill>
                  <a:ea typeface="+mn-lt"/>
                  <a:cs typeface="+mn-lt"/>
                  <a:sym typeface="Proxima Nova"/>
                </a:rPr>
                <a:t>well does the early prototype address user needs, </a:t>
              </a:r>
              <a:r>
                <a:rPr lang="en-US" sz="1400" u="none" strike="noStrike">
                  <a:solidFill>
                    <a:srgbClr val="525963"/>
                  </a:solidFill>
                  <a:ea typeface="+mn-lt"/>
                  <a:cs typeface="+mn-lt"/>
                  <a:sym typeface="Proxima Nova"/>
                </a:rPr>
                <a:t>and </a:t>
              </a:r>
              <a:r>
                <a:rPr lang="en-US" sz="1400">
                  <a:solidFill>
                    <a:srgbClr val="525963"/>
                  </a:solidFill>
                  <a:ea typeface="+mn-lt"/>
                  <a:cs typeface="+mn-lt"/>
                  <a:sym typeface="Proxima Nova"/>
                </a:rPr>
                <a:t>how can these findings inform further development</a:t>
              </a:r>
              <a:r>
                <a:rPr lang="en-US" sz="1400" u="none" strike="noStrike">
                  <a:solidFill>
                    <a:srgbClr val="525963"/>
                  </a:solidFill>
                  <a:ea typeface="+mn-lt"/>
                  <a:cs typeface="+mn-lt"/>
                  <a:sym typeface="Proxima Nova"/>
                </a:rPr>
                <a:t>?</a:t>
              </a:r>
              <a:endParaRPr lang="en-US">
                <a:ea typeface="+mn-lt"/>
                <a:cs typeface="+mn-lt"/>
              </a:endParaRPr>
            </a:p>
            <a:p>
              <a:r>
                <a:rPr lang="en-US" sz="1400" b="1">
                  <a:solidFill>
                    <a:srgbClr val="000000"/>
                  </a:solidFill>
                  <a:latin typeface="Calibri"/>
                  <a:ea typeface="Calibri"/>
                  <a:cs typeface="Calibri"/>
                  <a:sym typeface="Proxima Nova Bold"/>
                </a:rPr>
                <a:t>How to investigate</a:t>
              </a:r>
              <a:endParaRPr lang="en-US" sz="1400">
                <a:solidFill>
                  <a:srgbClr val="000000"/>
                </a:solidFill>
                <a:latin typeface="Calibri"/>
                <a:ea typeface="Calibri"/>
                <a:cs typeface="Calibri"/>
                <a:sym typeface="Proxima Nova Bold"/>
              </a:endParaRPr>
            </a:p>
            <a:p>
              <a:pPr marL="259080" lvl="1" indent="-129540">
                <a:lnSpc>
                  <a:spcPts val="1680"/>
                </a:lnSpc>
                <a:spcBef>
                  <a:spcPct val="0"/>
                </a:spcBef>
                <a:buFont typeface="Arial"/>
                <a:buChar char="•"/>
              </a:pPr>
              <a:r>
                <a:rPr lang="en-US" sz="1400">
                  <a:solidFill>
                    <a:srgbClr val="525963"/>
                  </a:solidFill>
                  <a:ea typeface="+mn-lt"/>
                  <a:cs typeface="+mn-lt"/>
                  <a:sym typeface="Proxima Nova"/>
                </a:rPr>
                <a:t>Evaluation methods(e.g. Task-based think-aloud testing)</a:t>
              </a:r>
              <a:endParaRPr lang="en-US" sz="1400">
                <a:solidFill>
                  <a:srgbClr val="525963"/>
                </a:solidFill>
                <a:ea typeface="+mn-lt"/>
                <a:cs typeface="+mn-lt"/>
              </a:endParaRPr>
            </a:p>
            <a:p>
              <a:pPr marL="259080" lvl="1" indent="-129540">
                <a:lnSpc>
                  <a:spcPts val="1680"/>
                </a:lnSpc>
                <a:spcBef>
                  <a:spcPct val="0"/>
                </a:spcBef>
                <a:buFont typeface="Arial"/>
                <a:buChar char="•"/>
              </a:pPr>
              <a:r>
                <a:rPr lang="en-US" sz="1400">
                  <a:solidFill>
                    <a:srgbClr val="525963"/>
                  </a:solidFill>
                  <a:ea typeface="+mn-lt"/>
                  <a:cs typeface="+mn-lt"/>
                  <a:sym typeface="Proxima Nova"/>
                </a:rPr>
                <a:t>Analysis of user feedback</a:t>
              </a:r>
            </a:p>
            <a:p>
              <a:pPr>
                <a:lnSpc>
                  <a:spcPts val="1680"/>
                </a:lnSpc>
                <a:spcBef>
                  <a:spcPct val="0"/>
                </a:spcBef>
              </a:pPr>
              <a:r>
                <a:rPr lang="en-US" sz="1400" b="1" u="none" strike="noStrike">
                  <a:solidFill>
                    <a:srgbClr val="000000"/>
                  </a:solidFill>
                  <a:latin typeface="Calibri"/>
                  <a:ea typeface="Calibri"/>
                  <a:cs typeface="Calibri"/>
                  <a:sym typeface="Proxima Nova Bold"/>
                </a:rPr>
                <a:t>Outcome</a:t>
              </a:r>
              <a:endParaRPr lang="en-US" sz="1400" b="1" u="none" strike="noStrike">
                <a:solidFill>
                  <a:srgbClr val="000000"/>
                </a:solidFill>
                <a:latin typeface="Calibri"/>
                <a:ea typeface="Calibri"/>
                <a:cs typeface="Calibri"/>
              </a:endParaRPr>
            </a:p>
            <a:p>
              <a:pPr marL="259080" lvl="1" indent="-129540">
                <a:lnSpc>
                  <a:spcPts val="1680"/>
                </a:lnSpc>
                <a:spcBef>
                  <a:spcPct val="0"/>
                </a:spcBef>
                <a:buFont typeface="Arial,Sans-Serif"/>
                <a:buChar char="•"/>
              </a:pPr>
              <a:r>
                <a:rPr lang="en-US" sz="1400">
                  <a:solidFill>
                    <a:srgbClr val="525963"/>
                  </a:solidFill>
                  <a:latin typeface="Calibri"/>
                  <a:ea typeface="Calibri"/>
                  <a:cs typeface="Calibri"/>
                  <a:sym typeface="Proxima Nova Bold"/>
                </a:rPr>
                <a:t>Initial Evaluation findings</a:t>
              </a:r>
              <a:endParaRPr lang="en-US" sz="1400">
                <a:solidFill>
                  <a:srgbClr val="000000"/>
                </a:solidFill>
                <a:latin typeface="Calibri"/>
                <a:ea typeface="Calibri"/>
                <a:cs typeface="Calibri"/>
              </a:endParaRPr>
            </a:p>
            <a:p>
              <a:pPr marL="259080" lvl="1" indent="-129540">
                <a:lnSpc>
                  <a:spcPts val="1680"/>
                </a:lnSpc>
                <a:spcBef>
                  <a:spcPct val="0"/>
                </a:spcBef>
                <a:buFont typeface="Arial,Sans-Serif"/>
                <a:buChar char="•"/>
              </a:pPr>
              <a:r>
                <a:rPr lang="en-US" sz="1400">
                  <a:solidFill>
                    <a:srgbClr val="525963"/>
                  </a:solidFill>
                  <a:latin typeface="Calibri"/>
                  <a:ea typeface="Calibri"/>
                  <a:cs typeface="Calibri"/>
                  <a:sym typeface="Proxima Nova Bold"/>
                </a:rPr>
                <a:t>Functional PoC progress</a:t>
              </a:r>
              <a:endParaRPr lang="en-US" sz="1400">
                <a:solidFill>
                  <a:srgbClr val="000000"/>
                </a:solidFill>
                <a:latin typeface="Calibri"/>
                <a:ea typeface="Calibri"/>
                <a:cs typeface="Calibri"/>
              </a:endParaRPr>
            </a:p>
            <a:p>
              <a:pPr marL="259080" lvl="1" indent="-129540">
                <a:lnSpc>
                  <a:spcPts val="1680"/>
                </a:lnSpc>
                <a:spcBef>
                  <a:spcPct val="0"/>
                </a:spcBef>
                <a:buFont typeface="Arial,Sans-Serif"/>
                <a:buChar char="•"/>
              </a:pPr>
              <a:endParaRPr lang="en-US" sz="1400" b="1" u="none" strike="noStrike">
                <a:solidFill>
                  <a:srgbClr val="525963"/>
                </a:solidFill>
                <a:latin typeface="Calibri"/>
                <a:ea typeface="Calibri"/>
                <a:cs typeface="Calibri"/>
              </a:endParaRPr>
            </a:p>
            <a:p>
              <a:pPr marL="0" lvl="0" indent="0" algn="l">
                <a:lnSpc>
                  <a:spcPts val="1680"/>
                </a:lnSpc>
                <a:spcBef>
                  <a:spcPct val="0"/>
                </a:spcBef>
              </a:pPr>
              <a:endParaRPr lang="en-US" sz="1200" b="1" u="none" strike="noStrike">
                <a:solidFill>
                  <a:srgbClr val="525963"/>
                </a:solidFill>
                <a:latin typeface="Proxima Nova Bold"/>
                <a:ea typeface="Proxima Nova Bold"/>
                <a:cs typeface="Proxima Nova Bold"/>
                <a:sym typeface="Proxima Nova Bold"/>
              </a:endParaRPr>
            </a:p>
          </p:txBody>
        </p:sp>
      </p:grpSp>
      <p:sp>
        <p:nvSpPr>
          <p:cNvPr id="42" name="Freeform 42"/>
          <p:cNvSpPr/>
          <p:nvPr/>
        </p:nvSpPr>
        <p:spPr>
          <a:xfrm>
            <a:off x="1121664" y="2308052"/>
            <a:ext cx="583619" cy="574865"/>
          </a:xfrm>
          <a:custGeom>
            <a:avLst/>
            <a:gdLst/>
            <a:ahLst/>
            <a:cxnLst/>
            <a:rect l="l" t="t" r="r" b="b"/>
            <a:pathLst>
              <a:path w="875429" h="862298">
                <a:moveTo>
                  <a:pt x="0" y="0"/>
                </a:moveTo>
                <a:lnTo>
                  <a:pt x="875429" y="0"/>
                </a:lnTo>
                <a:lnTo>
                  <a:pt x="875429" y="862298"/>
                </a:lnTo>
                <a:lnTo>
                  <a:pt x="0" y="862298"/>
                </a:lnTo>
                <a:lnTo>
                  <a:pt x="0" y="0"/>
                </a:lnTo>
                <a:close/>
              </a:path>
            </a:pathLst>
          </a:custGeom>
          <a:blipFill>
            <a:blip r:embed="rId5"/>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43" name="Freeform 43"/>
          <p:cNvSpPr/>
          <p:nvPr/>
        </p:nvSpPr>
        <p:spPr>
          <a:xfrm>
            <a:off x="4259965" y="3831449"/>
            <a:ext cx="693457" cy="693457"/>
          </a:xfrm>
          <a:custGeom>
            <a:avLst/>
            <a:gdLst/>
            <a:ahLst/>
            <a:cxnLst/>
            <a:rect l="l" t="t" r="r" b="b"/>
            <a:pathLst>
              <a:path w="1040186" h="1040186">
                <a:moveTo>
                  <a:pt x="0" y="0"/>
                </a:moveTo>
                <a:lnTo>
                  <a:pt x="1040185" y="0"/>
                </a:lnTo>
                <a:lnTo>
                  <a:pt x="1040185" y="1040186"/>
                </a:lnTo>
                <a:lnTo>
                  <a:pt x="0" y="1040186"/>
                </a:lnTo>
                <a:lnTo>
                  <a:pt x="0" y="0"/>
                </a:lnTo>
                <a:close/>
              </a:path>
            </a:pathLst>
          </a:custGeom>
          <a:blipFill>
            <a:blip r:embed="rId6"/>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44" name="Freeform 44"/>
          <p:cNvSpPr/>
          <p:nvPr/>
        </p:nvSpPr>
        <p:spPr>
          <a:xfrm>
            <a:off x="7068245" y="2341847"/>
            <a:ext cx="656107" cy="656107"/>
          </a:xfrm>
          <a:custGeom>
            <a:avLst/>
            <a:gdLst/>
            <a:ahLst/>
            <a:cxnLst/>
            <a:rect l="l" t="t" r="r" b="b"/>
            <a:pathLst>
              <a:path w="984160" h="984160">
                <a:moveTo>
                  <a:pt x="0" y="0"/>
                </a:moveTo>
                <a:lnTo>
                  <a:pt x="984160" y="0"/>
                </a:lnTo>
                <a:lnTo>
                  <a:pt x="984160" y="984160"/>
                </a:lnTo>
                <a:lnTo>
                  <a:pt x="0" y="984160"/>
                </a:lnTo>
                <a:lnTo>
                  <a:pt x="0" y="0"/>
                </a:lnTo>
                <a:close/>
              </a:path>
            </a:pathLst>
          </a:custGeom>
          <a:blipFill>
            <a:blip r:embed="rId7"/>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grpSp>
        <p:nvGrpSpPr>
          <p:cNvPr id="45" name="Group 45"/>
          <p:cNvGrpSpPr/>
          <p:nvPr/>
        </p:nvGrpSpPr>
        <p:grpSpPr>
          <a:xfrm>
            <a:off x="9326754" y="997480"/>
            <a:ext cx="2705227" cy="3965698"/>
            <a:chOff x="-252690" y="-531248"/>
            <a:chExt cx="5410454" cy="7931395"/>
          </a:xfrm>
        </p:grpSpPr>
        <p:sp>
          <p:nvSpPr>
            <p:cNvPr id="46" name="TextBox 46"/>
            <p:cNvSpPr txBox="1"/>
            <p:nvPr/>
          </p:nvSpPr>
          <p:spPr>
            <a:xfrm>
              <a:off x="1037140" y="6106331"/>
              <a:ext cx="2204764" cy="1293816"/>
            </a:xfrm>
            <a:prstGeom prst="rect">
              <a:avLst/>
            </a:prstGeom>
          </p:spPr>
          <p:txBody>
            <a:bodyPr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79"/>
                </a:lnSpc>
                <a:spcBef>
                  <a:spcPct val="0"/>
                </a:spcBef>
              </a:pPr>
              <a:r>
                <a:rPr lang="en-US" sz="1400" b="1" spc="35">
                  <a:solidFill>
                    <a:srgbClr val="142740"/>
                  </a:solidFill>
                  <a:latin typeface="Calibri"/>
                  <a:ea typeface="Calibri"/>
                  <a:cs typeface="Calibri"/>
                  <a:sym typeface="Proxima Nova Bold"/>
                </a:rPr>
                <a:t> Iterate &amp; Refine</a:t>
              </a:r>
              <a:r>
                <a:rPr lang="en-US" sz="1400" b="1" u="none" strike="noStrike" spc="35">
                  <a:solidFill>
                    <a:srgbClr val="142740"/>
                  </a:solidFill>
                  <a:latin typeface="Calibri"/>
                  <a:ea typeface="Calibri"/>
                  <a:cs typeface="Calibri"/>
                  <a:sym typeface="Proxima Nova Bold"/>
                </a:rPr>
                <a:t> </a:t>
              </a:r>
              <a:endParaRPr lang="en-US" sz="1400" b="1" spc="35">
                <a:solidFill>
                  <a:srgbClr val="142740"/>
                </a:solidFill>
                <a:latin typeface="Calibri"/>
                <a:ea typeface="Calibri"/>
                <a:cs typeface="Calibri"/>
                <a:sym typeface="Proxima Nova Bold"/>
              </a:endParaRPr>
            </a:p>
            <a:p>
              <a:pPr algn="ctr">
                <a:lnSpc>
                  <a:spcPts val="1679"/>
                </a:lnSpc>
                <a:spcBef>
                  <a:spcPct val="0"/>
                </a:spcBef>
              </a:pPr>
              <a:r>
                <a:rPr lang="en-US" sz="1400" b="1" spc="35">
                  <a:solidFill>
                    <a:srgbClr val="142740"/>
                  </a:solidFill>
                  <a:latin typeface="Calibri"/>
                  <a:ea typeface="Calibri"/>
                  <a:cs typeface="Calibri"/>
                  <a:sym typeface="Proxima Nova Bold"/>
                </a:rPr>
                <a:t> </a:t>
              </a:r>
              <a:r>
                <a:rPr lang="en-US" sz="1400" b="1" u="none" strike="noStrike" spc="35">
                  <a:solidFill>
                    <a:srgbClr val="142740"/>
                  </a:solidFill>
                  <a:latin typeface="Calibri"/>
                  <a:ea typeface="Calibri"/>
                  <a:cs typeface="Calibri"/>
                  <a:sym typeface="Proxima Nova Bold"/>
                </a:rPr>
                <a:t>(</a:t>
              </a:r>
              <a:r>
                <a:rPr lang="en-US" sz="1400" b="1" spc="35">
                  <a:solidFill>
                    <a:srgbClr val="142740"/>
                  </a:solidFill>
                  <a:latin typeface="Calibri"/>
                  <a:ea typeface="Calibri"/>
                  <a:cs typeface="Calibri"/>
                  <a:sym typeface="Proxima Nova Bold"/>
                </a:rPr>
                <a:t>Week 9-11</a:t>
              </a:r>
              <a:r>
                <a:rPr lang="en-US" sz="1400" b="1" u="none" strike="noStrike" spc="35">
                  <a:solidFill>
                    <a:srgbClr val="142740"/>
                  </a:solidFill>
                  <a:latin typeface="Calibri"/>
                  <a:ea typeface="Calibri"/>
                  <a:cs typeface="Calibri"/>
                  <a:sym typeface="Proxima Nova Bold"/>
                </a:rPr>
                <a:t>)</a:t>
              </a:r>
              <a:endParaRPr lang="en-US" sz="1400" b="1" u="none" strike="noStrike" spc="35">
                <a:solidFill>
                  <a:srgbClr val="142740"/>
                </a:solidFill>
                <a:latin typeface="Calibri"/>
                <a:ea typeface="Calibri"/>
                <a:cs typeface="Calibri"/>
              </a:endParaRPr>
            </a:p>
          </p:txBody>
        </p:sp>
        <p:sp>
          <p:nvSpPr>
            <p:cNvPr id="47" name="TextBox 47"/>
            <p:cNvSpPr txBox="1"/>
            <p:nvPr/>
          </p:nvSpPr>
          <p:spPr>
            <a:xfrm>
              <a:off x="-252690" y="-531248"/>
              <a:ext cx="5410454" cy="528791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400" b="1">
                  <a:solidFill>
                    <a:srgbClr val="000000"/>
                  </a:solidFill>
                  <a:latin typeface="Calibri"/>
                  <a:ea typeface="Calibri"/>
                  <a:cs typeface="Calibri"/>
                  <a:sym typeface="Proxima Nova Bold"/>
                </a:rPr>
                <a:t>What we need to know</a:t>
              </a:r>
              <a:endParaRPr lang="en-US" sz="1400">
                <a:solidFill>
                  <a:srgbClr val="000000"/>
                </a:solidFill>
                <a:latin typeface="Calibri"/>
                <a:ea typeface="Calibri"/>
                <a:cs typeface="Calibri"/>
              </a:endParaRPr>
            </a:p>
            <a:p>
              <a:pPr>
                <a:lnSpc>
                  <a:spcPts val="1680"/>
                </a:lnSpc>
                <a:spcBef>
                  <a:spcPct val="0"/>
                </a:spcBef>
              </a:pPr>
              <a:r>
                <a:rPr lang="en-US" sz="1400">
                  <a:solidFill>
                    <a:srgbClr val="525963"/>
                  </a:solidFill>
                  <a:ea typeface="+mn-lt"/>
                  <a:cs typeface="+mn-lt"/>
                  <a:sym typeface="Proxima Nova"/>
                </a:rPr>
                <a:t>What breaks down when multiple users move through the complete experience, and what must be refined before </a:t>
              </a:r>
              <a:r>
                <a:rPr lang="en-US" sz="1400" u="none" strike="noStrike">
                  <a:solidFill>
                    <a:srgbClr val="525963"/>
                  </a:solidFill>
                  <a:ea typeface="+mn-lt"/>
                  <a:cs typeface="+mn-lt"/>
                  <a:sym typeface="Proxima Nova"/>
                </a:rPr>
                <a:t>the </a:t>
              </a:r>
              <a:r>
                <a:rPr lang="en-US" sz="1400">
                  <a:solidFill>
                    <a:srgbClr val="525963"/>
                  </a:solidFill>
                  <a:ea typeface="+mn-lt"/>
                  <a:cs typeface="+mn-lt"/>
                  <a:sym typeface="Proxima Nova"/>
                </a:rPr>
                <a:t>exhibit</a:t>
              </a:r>
              <a:r>
                <a:rPr lang="en-US" sz="1400" u="none" strike="noStrike">
                  <a:solidFill>
                    <a:srgbClr val="525963"/>
                  </a:solidFill>
                  <a:ea typeface="+mn-lt"/>
                  <a:cs typeface="+mn-lt"/>
                  <a:sym typeface="Proxima Nova"/>
                </a:rPr>
                <a:t>?</a:t>
              </a:r>
              <a:endParaRPr lang="en-US">
                <a:ea typeface="+mn-lt"/>
                <a:cs typeface="+mn-lt"/>
              </a:endParaRPr>
            </a:p>
            <a:p>
              <a:r>
                <a:rPr lang="en-US" sz="1400" b="1">
                  <a:solidFill>
                    <a:srgbClr val="000000"/>
                  </a:solidFill>
                  <a:latin typeface="Calibri"/>
                  <a:ea typeface="Calibri"/>
                  <a:cs typeface="Calibri"/>
                  <a:sym typeface="Proxima Nova Bold"/>
                </a:rPr>
                <a:t>How to investigate</a:t>
              </a:r>
              <a:endParaRPr lang="en-US" sz="1400">
                <a:solidFill>
                  <a:srgbClr val="000000"/>
                </a:solidFill>
                <a:latin typeface="Calibri"/>
                <a:ea typeface="Calibri"/>
                <a:cs typeface="Calibri"/>
                <a:sym typeface="Proxima Nova Bold"/>
              </a:endParaRP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Iterative prototyping</a:t>
              </a: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Further user testing</a:t>
              </a:r>
            </a:p>
            <a:p>
              <a:pPr marL="259080" lvl="1" indent="-129540">
                <a:lnSpc>
                  <a:spcPts val="1680"/>
                </a:lnSpc>
                <a:spcBef>
                  <a:spcPct val="0"/>
                </a:spcBef>
                <a:buFont typeface="Arial"/>
                <a:buChar char="•"/>
              </a:pPr>
              <a:r>
                <a:rPr lang="en-US" sz="1400">
                  <a:solidFill>
                    <a:srgbClr val="525963"/>
                  </a:solidFill>
                  <a:latin typeface="Calibri"/>
                  <a:ea typeface="Calibri"/>
                  <a:cs typeface="Calibri"/>
                  <a:sym typeface="Proxima Nova"/>
                </a:rPr>
                <a:t>End-to-end multi-user testing</a:t>
              </a:r>
            </a:p>
            <a:p>
              <a:pPr>
                <a:lnSpc>
                  <a:spcPts val="1680"/>
                </a:lnSpc>
                <a:spcBef>
                  <a:spcPct val="0"/>
                </a:spcBef>
              </a:pPr>
              <a:r>
                <a:rPr lang="en-US" sz="1400" b="1">
                  <a:solidFill>
                    <a:srgbClr val="525963"/>
                  </a:solidFill>
                  <a:ea typeface="+mn-lt"/>
                  <a:cs typeface="+mn-lt"/>
                </a:rPr>
                <a:t>Outcome</a:t>
              </a:r>
            </a:p>
            <a:p>
              <a:pPr>
                <a:lnSpc>
                  <a:spcPts val="1680"/>
                </a:lnSpc>
                <a:spcBef>
                  <a:spcPct val="0"/>
                </a:spcBef>
              </a:pPr>
              <a:r>
                <a:rPr lang="en-US" sz="1400">
                  <a:solidFill>
                    <a:srgbClr val="525963"/>
                  </a:solidFill>
                  <a:ea typeface="+mn-lt"/>
                  <a:cs typeface="+mn-lt"/>
                  <a:sym typeface="Proxima Nova Bold"/>
                </a:rPr>
                <a:t>Refined multi-user PoC ready for showcase preparation</a:t>
              </a:r>
              <a:endParaRPr lang="en-US">
                <a:ea typeface="Calibri"/>
                <a:cs typeface="Calibri"/>
              </a:endParaRPr>
            </a:p>
          </p:txBody>
        </p:sp>
      </p:grpSp>
      <p:sp>
        <p:nvSpPr>
          <p:cNvPr id="48" name="Freeform 48"/>
          <p:cNvSpPr/>
          <p:nvPr/>
        </p:nvSpPr>
        <p:spPr>
          <a:xfrm>
            <a:off x="10142843" y="3695813"/>
            <a:ext cx="752296" cy="752296"/>
          </a:xfrm>
          <a:custGeom>
            <a:avLst/>
            <a:gdLst/>
            <a:ahLst/>
            <a:cxnLst/>
            <a:rect l="l" t="t" r="r" b="b"/>
            <a:pathLst>
              <a:path w="1128444" h="1128444">
                <a:moveTo>
                  <a:pt x="0" y="0"/>
                </a:moveTo>
                <a:lnTo>
                  <a:pt x="1128443" y="0"/>
                </a:lnTo>
                <a:lnTo>
                  <a:pt x="1128443" y="1128444"/>
                </a:lnTo>
                <a:lnTo>
                  <a:pt x="0" y="1128444"/>
                </a:lnTo>
                <a:lnTo>
                  <a:pt x="0" y="0"/>
                </a:lnTo>
                <a:close/>
              </a:path>
            </a:pathLst>
          </a:custGeom>
          <a:blipFill>
            <a:blip r:embed="rId8"/>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49" name="TextBox 49"/>
          <p:cNvSpPr txBox="1"/>
          <p:nvPr/>
        </p:nvSpPr>
        <p:spPr>
          <a:xfrm>
            <a:off x="409869" y="3830473"/>
            <a:ext cx="2586240" cy="281121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680"/>
              </a:lnSpc>
            </a:pPr>
            <a:r>
              <a:rPr lang="en-US" sz="1400" b="1">
                <a:solidFill>
                  <a:srgbClr val="000000"/>
                </a:solidFill>
                <a:latin typeface="Calibri"/>
                <a:ea typeface="Calibri"/>
                <a:cs typeface="Calibri"/>
                <a:sym typeface="Proxima Nova Bold"/>
              </a:rPr>
              <a:t>What we need to know</a:t>
            </a:r>
            <a:endParaRPr lang="en-US"/>
          </a:p>
          <a:p>
            <a:pPr>
              <a:lnSpc>
                <a:spcPts val="1680"/>
              </a:lnSpc>
            </a:pPr>
            <a:r>
              <a:rPr lang="en-US" sz="1400">
                <a:solidFill>
                  <a:srgbClr val="525963"/>
                </a:solidFill>
                <a:latin typeface="Calibri"/>
                <a:ea typeface="Calibri"/>
                <a:cs typeface="Calibri"/>
                <a:sym typeface="Proxima Nova"/>
              </a:rPr>
              <a:t>What do students need when forming groups with unfamiliar peers?</a:t>
            </a:r>
            <a:endParaRPr lang="en-US"/>
          </a:p>
          <a:p>
            <a:pPr>
              <a:lnSpc>
                <a:spcPts val="1680"/>
              </a:lnSpc>
            </a:pPr>
            <a:r>
              <a:rPr lang="en-US" sz="1400" b="1">
                <a:solidFill>
                  <a:srgbClr val="000000"/>
                </a:solidFill>
                <a:latin typeface="Calibri"/>
                <a:ea typeface="Calibri"/>
                <a:cs typeface="Calibri"/>
              </a:rPr>
              <a:t>How to investigate</a:t>
            </a:r>
          </a:p>
          <a:p>
            <a:pPr marL="259080" lvl="1" indent="-129540">
              <a:lnSpc>
                <a:spcPts val="1680"/>
              </a:lnSpc>
              <a:buFont typeface="Arial"/>
              <a:buChar char="•"/>
            </a:pPr>
            <a:r>
              <a:rPr lang="en-US" sz="1400">
                <a:solidFill>
                  <a:srgbClr val="525963"/>
                </a:solidFill>
                <a:ea typeface="Calibri" panose="020F0502020204030204"/>
                <a:cs typeface="Calibri" panose="020F0502020204030204"/>
              </a:rPr>
              <a:t>Semi-structured interviews</a:t>
            </a:r>
          </a:p>
          <a:p>
            <a:pPr marL="259080" lvl="1" indent="-129540">
              <a:lnSpc>
                <a:spcPts val="1680"/>
              </a:lnSpc>
              <a:buFont typeface="Arial"/>
              <a:buChar char="•"/>
            </a:pPr>
            <a:r>
              <a:rPr lang="en-US" sz="1400">
                <a:solidFill>
                  <a:srgbClr val="525963"/>
                </a:solidFill>
                <a:ea typeface="Calibri" panose="020F0502020204030204"/>
                <a:cs typeface="Calibri" panose="020F0502020204030204"/>
              </a:rPr>
              <a:t>Literature review</a:t>
            </a:r>
          </a:p>
          <a:p>
            <a:pPr>
              <a:lnSpc>
                <a:spcPts val="1680"/>
              </a:lnSpc>
            </a:pPr>
            <a:r>
              <a:rPr lang="en-US" sz="1400" b="1">
                <a:solidFill>
                  <a:srgbClr val="000000"/>
                </a:solidFill>
                <a:latin typeface="Calibri"/>
                <a:ea typeface="Calibri"/>
                <a:cs typeface="Calibri"/>
                <a:sym typeface="Proxima Nova Bold"/>
              </a:rPr>
              <a:t>Outcome</a:t>
            </a:r>
            <a:endParaRPr lang="en-US" sz="1400" b="1">
              <a:solidFill>
                <a:srgbClr val="000000"/>
              </a:solidFill>
              <a:latin typeface="Calibri"/>
              <a:ea typeface="Calibri"/>
              <a:cs typeface="Calibri"/>
            </a:endParaRPr>
          </a:p>
          <a:p>
            <a:pPr marL="259080" lvl="1" indent="-129540">
              <a:lnSpc>
                <a:spcPts val="1680"/>
              </a:lnSpc>
              <a:buFont typeface="Arial,Sans-Serif"/>
              <a:buChar char="•"/>
            </a:pPr>
            <a:r>
              <a:rPr lang="en-US" sz="1400">
                <a:solidFill>
                  <a:srgbClr val="525963"/>
                </a:solidFill>
                <a:latin typeface="Calibri"/>
                <a:ea typeface="Calibri"/>
                <a:cs typeface="Calibri"/>
              </a:rPr>
              <a:t>User research findings</a:t>
            </a:r>
            <a:endParaRPr lang="en-US" sz="1400">
              <a:solidFill>
                <a:srgbClr val="000000"/>
              </a:solidFill>
              <a:latin typeface="Calibri"/>
              <a:ea typeface="Calibri"/>
              <a:cs typeface="Calibri"/>
            </a:endParaRPr>
          </a:p>
          <a:p>
            <a:pPr marL="259080" lvl="1" indent="-129540">
              <a:lnSpc>
                <a:spcPts val="1680"/>
              </a:lnSpc>
              <a:buFont typeface="Arial,Sans-Serif"/>
              <a:buChar char="•"/>
            </a:pPr>
            <a:r>
              <a:rPr lang="en-US" sz="1400">
                <a:solidFill>
                  <a:srgbClr val="525963"/>
                </a:solidFill>
                <a:latin typeface="Calibri"/>
                <a:ea typeface="Calibri"/>
                <a:cs typeface="Calibri"/>
              </a:rPr>
              <a:t>Initial user needs</a:t>
            </a:r>
          </a:p>
          <a:p>
            <a:pPr marL="259080" lvl="1" indent="-129540">
              <a:lnSpc>
                <a:spcPts val="1680"/>
              </a:lnSpc>
              <a:buFont typeface="Arial,Sans-Serif"/>
              <a:buChar char="•"/>
            </a:pPr>
            <a:endParaRPr lang="en-US" sz="1400">
              <a:solidFill>
                <a:srgbClr val="525963"/>
              </a:solidFill>
              <a:latin typeface="Calibri"/>
              <a:ea typeface="Calibri"/>
              <a:cs typeface="Calibri"/>
            </a:endParaRPr>
          </a:p>
          <a:p>
            <a:pPr>
              <a:lnSpc>
                <a:spcPts val="1680"/>
              </a:lnSpc>
            </a:pPr>
            <a:endParaRPr lang="en-US" sz="1400">
              <a:solidFill>
                <a:srgbClr val="525963"/>
              </a:solidFill>
              <a:latin typeface="Calibri"/>
              <a:ea typeface="Calibri"/>
              <a:cs typeface="Calibri"/>
            </a:endParaRPr>
          </a:p>
          <a:p>
            <a:pPr algn="ctr">
              <a:lnSpc>
                <a:spcPts val="1680"/>
              </a:lnSpc>
              <a:spcBef>
                <a:spcPct val="0"/>
              </a:spcBef>
            </a:pPr>
            <a:endParaRPr lang="en-US" b="1">
              <a:solidFill>
                <a:srgbClr val="525963"/>
              </a:solidFill>
              <a:latin typeface="Proxima Nova Bold"/>
              <a:ea typeface="Proxima Nova Bold"/>
              <a:cs typeface="Proxima Nova Bold"/>
            </a:endParaRPr>
          </a:p>
        </p:txBody>
      </p:sp>
      <p:sp>
        <p:nvSpPr>
          <p:cNvPr id="50" name="TextBox 50"/>
          <p:cNvSpPr txBox="1"/>
          <p:nvPr/>
        </p:nvSpPr>
        <p:spPr>
          <a:xfrm>
            <a:off x="213796" y="275837"/>
            <a:ext cx="4942436" cy="46987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920"/>
              </a:lnSpc>
              <a:spcBef>
                <a:spcPct val="0"/>
              </a:spcBef>
            </a:pPr>
            <a:r>
              <a:rPr lang="en-US" sz="2800" b="1" spc="84">
                <a:solidFill>
                  <a:srgbClr val="7030A0"/>
                </a:solidFill>
                <a:latin typeface="Calibri"/>
                <a:ea typeface="Calibri"/>
                <a:cs typeface="Calibri"/>
                <a:sym typeface="Proxima Nova Bold"/>
              </a:rPr>
              <a:t>Plan of Work &amp; Methods</a:t>
            </a:r>
            <a:endParaRPr lang="en-US" sz="2800" b="1" spc="84">
              <a:solidFill>
                <a:srgbClr val="7030A0"/>
              </a:solidFill>
              <a:latin typeface="Calibri"/>
              <a:ea typeface="Calibri"/>
              <a:cs typeface="Calibri"/>
            </a:endParaRPr>
          </a:p>
        </p:txBody>
      </p:sp>
      <p:sp>
        <p:nvSpPr>
          <p:cNvPr id="51" name="TextBox 51"/>
          <p:cNvSpPr txBox="1"/>
          <p:nvPr/>
        </p:nvSpPr>
        <p:spPr>
          <a:xfrm>
            <a:off x="876430" y="2886396"/>
            <a:ext cx="1074087" cy="64690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1680"/>
              </a:lnSpc>
              <a:spcBef>
                <a:spcPct val="0"/>
              </a:spcBef>
            </a:pPr>
            <a:r>
              <a:rPr lang="en-US" sz="1400" b="1" spc="35">
                <a:solidFill>
                  <a:srgbClr val="142740"/>
                </a:solidFill>
                <a:ea typeface="+mn-lt"/>
                <a:cs typeface="+mn-lt"/>
                <a:sym typeface="Proxima Nova Bold"/>
              </a:rPr>
              <a:t>Research &amp; Validation</a:t>
            </a:r>
            <a:r>
              <a:rPr lang="en-US" sz="1400" b="1" spc="35">
                <a:solidFill>
                  <a:srgbClr val="142740"/>
                </a:solidFill>
                <a:latin typeface="Calibri"/>
                <a:ea typeface="Calibri"/>
                <a:cs typeface="Calibri"/>
                <a:sym typeface="Proxima Nova Bold"/>
              </a:rPr>
              <a:t> (Week 4-5)</a:t>
            </a:r>
            <a:endParaRPr lang="en-US" sz="1400" b="1" spc="35">
              <a:solidFill>
                <a:srgbClr val="142740"/>
              </a:solidFill>
              <a:latin typeface="Calibri"/>
              <a:ea typeface="Calibri"/>
              <a:cs typeface="Calibri"/>
            </a:endParaRPr>
          </a:p>
        </p:txBody>
      </p:sp>
      <p:sp>
        <p:nvSpPr>
          <p:cNvPr id="27" name="Freeform 7">
            <a:extLst>
              <a:ext uri="{FF2B5EF4-FFF2-40B4-BE49-F238E27FC236}">
                <a16:creationId xmlns:a16="http://schemas.microsoft.com/office/drawing/2014/main" id="{068FFB8B-A39D-057F-A94E-E16F8E19D68C}"/>
              </a:ext>
            </a:extLst>
          </p:cNvPr>
          <p:cNvSpPr/>
          <p:nvPr/>
        </p:nvSpPr>
        <p:spPr>
          <a:xfrm rot="5400000">
            <a:off x="10128060" y="5655724"/>
            <a:ext cx="761185" cy="277931"/>
          </a:xfrm>
          <a:custGeom>
            <a:avLst/>
            <a:gdLst/>
            <a:ahLst/>
            <a:cxnLst/>
            <a:rect l="l" t="t" r="r" b="b"/>
            <a:pathLst>
              <a:path w="4308311" h="501563">
                <a:moveTo>
                  <a:pt x="0" y="0"/>
                </a:moveTo>
                <a:lnTo>
                  <a:pt x="4308311" y="0"/>
                </a:lnTo>
                <a:lnTo>
                  <a:pt x="4308311" y="501563"/>
                </a:lnTo>
                <a:lnTo>
                  <a:pt x="0" y="501563"/>
                </a:lnTo>
                <a:lnTo>
                  <a:pt x="0" y="0"/>
                </a:lnTo>
                <a:close/>
              </a:path>
            </a:pathLst>
          </a:custGeom>
          <a:blipFill>
            <a:blip>
              <a:extLst>
                <a:ext uri="{96DAC541-7B7A-43D3-8B79-37D633B846F1}">
                  <asvg:svgBlip xmlns:asvg="http://schemas.microsoft.com/office/drawing/2016/SVG/main" r:embed="rId4"/>
                </a:ext>
              </a:extLst>
            </a:blip>
            <a:stretch>
              <a:fillRect l="-21596" b="-235541"/>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zh-CN" altLang="en-US" sz="800"/>
          </a:p>
        </p:txBody>
      </p:sp>
      <p:sp>
        <p:nvSpPr>
          <p:cNvPr id="34" name="TextBox 33">
            <a:extLst>
              <a:ext uri="{FF2B5EF4-FFF2-40B4-BE49-F238E27FC236}">
                <a16:creationId xmlns:a16="http://schemas.microsoft.com/office/drawing/2014/main" id="{C65DEF1E-A186-AD1D-D983-3392E4F77F05}"/>
              </a:ext>
            </a:extLst>
          </p:cNvPr>
          <p:cNvSpPr txBox="1"/>
          <p:nvPr/>
        </p:nvSpPr>
        <p:spPr>
          <a:xfrm>
            <a:off x="9531334" y="6175225"/>
            <a:ext cx="298431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spc="35">
                <a:solidFill>
                  <a:srgbClr val="142740"/>
                </a:solidFill>
                <a:latin typeface="Calibri"/>
                <a:ea typeface="Calibri"/>
                <a:cs typeface="Calibri"/>
              </a:rPr>
              <a:t>       Week 12 &amp; Week 13</a:t>
            </a:r>
          </a:p>
          <a:p>
            <a:r>
              <a:rPr lang="en-US" sz="1400" b="1" spc="35">
                <a:solidFill>
                  <a:srgbClr val="142740"/>
                </a:solidFill>
                <a:latin typeface="Calibri"/>
                <a:ea typeface="Calibri"/>
                <a:cs typeface="Calibri"/>
              </a:rPr>
              <a:t>Presentation &amp; Documentation</a:t>
            </a:r>
          </a:p>
        </p:txBody>
      </p:sp>
    </p:spTree>
    <p:extLst>
      <p:ext uri="{BB962C8B-B14F-4D97-AF65-F5344CB8AC3E}">
        <p14:creationId xmlns:p14="http://schemas.microsoft.com/office/powerpoint/2010/main" val="2354094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6</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UQ Template</dc:subject>
  <dc:creator>Zhifeng Cheng</dc:creator>
  <cp:revision>20</cp:revision>
  <dcterms:created xsi:type="dcterms:W3CDTF">2026-08-18T02:03:32Z</dcterms:created>
  <dcterms:modified xsi:type="dcterms:W3CDTF">2026-08-27T05:02:31Z</dcterms:modified>
</cp:coreProperties>
</file>